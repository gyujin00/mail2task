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2A4A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144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32B4B">
              <a:alpha val="90000"/>
            </a:srgbClr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2984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Workflow Automation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0704" y="17373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1078992" y="2468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워크플로우 및 작업 추출 자동화 시스템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30906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 · PDF Parsing · Recommendation · MongoDB · Web Dashboard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12280" y="914400"/>
            <a:ext cx="4526280" cy="4526280"/>
          </a:xfrm>
          <a:prstGeom prst="roundRect">
            <a:avLst>
              <a:gd name="adj" fmla="val 2424"/>
            </a:avLst>
          </a:prstGeom>
          <a:solidFill>
            <a:srgbClr val="173556">
              <a:alpha val="92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9480" y="1481328"/>
            <a:ext cx="1051560" cy="438912"/>
          </a:xfrm>
          <a:prstGeom prst="roundRect">
            <a:avLst>
              <a:gd name="adj" fmla="val 16667"/>
            </a:avLst>
          </a:prstGeom>
          <a:solidFill>
            <a:srgbClr val="163D4C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51776" y="159105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F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49640" y="15727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49640" y="17190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 수집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2350008"/>
            <a:ext cx="1051560" cy="438912"/>
          </a:xfrm>
          <a:prstGeom prst="roundRect">
            <a:avLst>
              <a:gd name="adj" fmla="val 16667"/>
            </a:avLst>
          </a:prstGeom>
          <a:solidFill>
            <a:srgbClr val="163D4C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51776" y="245973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F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49640" y="2441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49640" y="258775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분석 / 추천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69480" y="3218688"/>
            <a:ext cx="1051560" cy="438912"/>
          </a:xfrm>
          <a:prstGeom prst="roundRect">
            <a:avLst>
              <a:gd name="adj" fmla="val 16667"/>
            </a:avLst>
          </a:prstGeom>
          <a:solidFill>
            <a:srgbClr val="163D4C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51776" y="332841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F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49640" y="33101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49640" y="34564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가능한 업무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69480" y="4087368"/>
            <a:ext cx="1051560" cy="438912"/>
          </a:xfrm>
          <a:prstGeom prst="roundRect">
            <a:avLst>
              <a:gd name="adj" fmla="val 16667"/>
            </a:avLst>
          </a:prstGeom>
          <a:solidFill>
            <a:srgbClr val="163D4C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51776" y="419709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F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49640" y="41788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49640" y="432511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문서 맥락 보강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78992" y="4754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Project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2A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4389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768096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배경: 메일 기반 업무 요청의 한계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122529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분산된 메일과 수동 정리 과정에서 생기는 운영 비효율을 먼저 정의합니다.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7510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파편화된 업무 채널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33272" y="2286000"/>
            <a:ext cx="3054096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메일로 인해 요청 맥락이 단절되고, 어떤 메일부터 우선 처리해야 하는지 즉시 판단하기 어렵습니다.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407408" y="18288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97510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휴먼 에러 리스크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2286000"/>
            <a:ext cx="3054096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제목, 본문, 첨부를 수동으로 정리하는 과정에서 업무 누락과 상태 미반영 문제가 생길 수 있습니다.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7946136" y="18288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0728" y="197510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처리 병목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110728" y="2286000"/>
            <a:ext cx="3054096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PDF를 따로 열어 확인하고 과거 관련 문서까지 다시 찾는 데 많은 시간이 소요됩니다.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9966960" y="54406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 Loss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64008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008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2A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4389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768096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방안: Mail2Task - 메일을 To-do로 즉시 변환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122529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메일을 읽고 이해해 구조화된 업무 데이터로 바꾸는 AI 워크플로우를 제안합니다.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60120" y="2103120"/>
            <a:ext cx="2331720" cy="2468880"/>
          </a:xfrm>
          <a:prstGeom prst="roundRect">
            <a:avLst>
              <a:gd name="adj" fmla="val 3922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01184" y="2103120"/>
            <a:ext cx="2331720" cy="2468880"/>
          </a:xfrm>
          <a:prstGeom prst="roundRect">
            <a:avLst>
              <a:gd name="adj" fmla="val 3922"/>
            </a:avLst>
          </a:prstGeom>
          <a:solidFill>
            <a:srgbClr val="173556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42248" y="2103120"/>
            <a:ext cx="2331720" cy="2468880"/>
          </a:xfrm>
          <a:prstGeom prst="roundRect">
            <a:avLst>
              <a:gd name="adj" fmla="val 3922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487168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75688" y="24963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수집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075688" y="2816352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 실시간 모니터링 및 메일 수집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5148072" y="2487168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F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8FF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16752" y="24963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16752" y="2816352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본문과 PDF에서 마감일, 긴급도, 핵심 요청 추출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9089136" y="2487168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57816" y="24963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957816" y="2816352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파편화된 정보를 actionable한 To-do 리스트로 변환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3611880" y="3035808"/>
            <a:ext cx="411480" cy="384048"/>
          </a:xfrm>
          <a:prstGeom prst="chevron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0" y="3035808"/>
            <a:ext cx="411480" cy="384048"/>
          </a:xfrm>
          <a:prstGeom prst="chevron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64008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008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2A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4389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768096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기능: 실무 최적화 자동화 기능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122529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수집, 분석, 추천, 알림까지 이어지는 End-to-End 기능을 사용자 관점으로 설명합니다.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06654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 Extraction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87552" y="2377440"/>
            <a:ext cx="2276856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 IMAP 연동과 PDF 텍스트 정밀 추출로 메일과 첨부문서를 함께 처리합니다.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3611880" y="192024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173556"/>
          </a:solidFill>
          <a:ln w="12700">
            <a:solidFill>
              <a:srgbClr val="64FFDA"/>
            </a:solidFill>
            <a:prstDash val="solid"/>
          </a:ln>
          <a:effectLst>
            <a:outerShdw sx="100000" sy="100000" kx="0" ky="0" algn="bl" rotWithShape="0" blurRad="25400" dist="50800" dir="2700000">
              <a:srgbClr val="64FFD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76472" y="206654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F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Contextual Recommendation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76472" y="2377440"/>
            <a:ext cx="2276856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PDF 기준 연관 PDF 추천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본문 기준 관련 PDF 추천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데이터베이스 안에서 맥락이 비슷한 문서를 자동으로 찾아줍니다.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400800" y="192024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206654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Summarization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65392" y="2377440"/>
            <a:ext cx="2276856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 업무 요약과 우선순위 자동 분류로 담당자의 판단 부담을 줄입니다.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9189720" y="1920240"/>
            <a:ext cx="2148840" cy="3246120"/>
          </a:xfrm>
          <a:prstGeom prst="roundRect">
            <a:avLst>
              <a:gd name="adj" fmla="val 3404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54312" y="2066544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 Notification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354312" y="2377440"/>
            <a:ext cx="1819656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웹 대시보드 관리와 작업 완료 시 자동 회신 알림까지 연결합니다.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3840480" y="5440680"/>
            <a:ext cx="1417320" cy="310896"/>
          </a:xfrm>
          <a:prstGeom prst="roundRect">
            <a:avLst>
              <a:gd name="adj" fmla="val 41176"/>
            </a:avLst>
          </a:prstGeom>
          <a:solidFill>
            <a:srgbClr val="163D4C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13632" y="5495544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F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PDF 추천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94960" y="5440680"/>
            <a:ext cx="1417320" cy="310896"/>
          </a:xfrm>
          <a:prstGeom prst="roundRect">
            <a:avLst>
              <a:gd name="adj" fmla="val 41176"/>
            </a:avLst>
          </a:prstGeom>
          <a:solidFill>
            <a:srgbClr val="163D4C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5495544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F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기반 추천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9808" y="64008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008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2A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4389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768096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흐름: Mail2Task 동작 프로세스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122529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안정적인 데이터 파이프라인과 추천 로직이 포함된 전체 아키텍처를 보여줍니다.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04672" y="2743200"/>
            <a:ext cx="1115568" cy="1078992"/>
          </a:xfrm>
          <a:prstGeom prst="roundRect">
            <a:avLst>
              <a:gd name="adj" fmla="val 6780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303580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965960" y="3072384"/>
            <a:ext cx="164592" cy="256032"/>
          </a:xfrm>
          <a:prstGeom prst="chevron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03704" y="2743200"/>
            <a:ext cx="1115568" cy="1078992"/>
          </a:xfrm>
          <a:prstGeom prst="roundRect">
            <a:avLst>
              <a:gd name="adj" fmla="val 6780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76856" y="303580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IMAP 수집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64992" y="3072384"/>
            <a:ext cx="164592" cy="256032"/>
          </a:xfrm>
          <a:prstGeom prst="chevron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02736" y="2743200"/>
            <a:ext cx="1115568" cy="1078992"/>
          </a:xfrm>
          <a:prstGeom prst="roundRect">
            <a:avLst>
              <a:gd name="adj" fmla="val 6780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303580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파싱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64024" y="3072384"/>
            <a:ext cx="164592" cy="256032"/>
          </a:xfrm>
          <a:prstGeom prst="chevron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01768" y="2743200"/>
            <a:ext cx="1115568" cy="1078992"/>
          </a:xfrm>
          <a:prstGeom prst="roundRect">
            <a:avLst>
              <a:gd name="adj" fmla="val 6780"/>
            </a:avLst>
          </a:prstGeom>
          <a:solidFill>
            <a:srgbClr val="163D4C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303580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F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문서 매칭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63056" y="3072384"/>
            <a:ext cx="164592" cy="256032"/>
          </a:xfrm>
          <a:prstGeom prst="chevron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743200"/>
            <a:ext cx="1115568" cy="1078992"/>
          </a:xfrm>
          <a:prstGeom prst="roundRect">
            <a:avLst>
              <a:gd name="adj" fmla="val 6780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303580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분석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62088" y="3072384"/>
            <a:ext cx="164592" cy="256032"/>
          </a:xfrm>
          <a:prstGeom prst="chevron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99832" y="2743200"/>
            <a:ext cx="1115568" cy="1078992"/>
          </a:xfrm>
          <a:prstGeom prst="roundRect">
            <a:avLst>
              <a:gd name="adj" fmla="val 6780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72984" y="303580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저장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61120" y="3072384"/>
            <a:ext cx="164592" cy="256032"/>
          </a:xfrm>
          <a:prstGeom prst="chevron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98864" y="2743200"/>
            <a:ext cx="1115568" cy="1078992"/>
          </a:xfrm>
          <a:prstGeom prst="roundRect">
            <a:avLst>
              <a:gd name="adj" fmla="val 6780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72016" y="303580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UI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360152" y="3072384"/>
            <a:ext cx="164592" cy="256032"/>
          </a:xfrm>
          <a:prstGeom prst="chevron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97896" y="2743200"/>
            <a:ext cx="1115568" cy="1078992"/>
          </a:xfrm>
          <a:prstGeom prst="roundRect">
            <a:avLst>
              <a:gd name="adj" fmla="val 6780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71048" y="3035808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SMTP 알림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00600" y="40690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문서 매칭(DB 검색)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" y="64008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008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2A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4389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768096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차별점: 지능형 문서 추천과 닫힌 업무 흐름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122529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메일 뷰어가 아니라 실무 활용도를 높이는 맥락 인지형 자동화를 강조합니다.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5166360" cy="3611880"/>
          </a:xfrm>
          <a:prstGeom prst="roundRect">
            <a:avLst>
              <a:gd name="adj" fmla="val 2025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06654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방식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87552" y="2377440"/>
            <a:ext cx="4837176" cy="3044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메일을 그대로 나열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본문만 확인 가능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유사 문서를 직접 검색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후 회신도 별도 작성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6236208" y="1920240"/>
            <a:ext cx="5166360" cy="3611880"/>
          </a:xfrm>
          <a:prstGeom prst="roundRect">
            <a:avLst>
              <a:gd name="adj" fmla="val 2025"/>
            </a:avLst>
          </a:prstGeom>
          <a:solidFill>
            <a:srgbClr val="173556"/>
          </a:solidFill>
          <a:ln w="12700">
            <a:solidFill>
              <a:srgbClr val="64FFDA"/>
            </a:solidFill>
            <a:prstDash val="solid"/>
          </a:ln>
          <a:effectLst>
            <a:outerShdw sx="100000" sy="100000" kx="0" ky="0" algn="bl" rotWithShape="0" blurRad="25400" dist="50800" dir="2700000">
              <a:srgbClr val="64FFD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066544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FF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4837176" cy="3044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Actionable Task 중심 설계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PDF와 본문까지 함께 분석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자동 추천으로 유사 PDF 즉시 탐색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완료 후 자동 회신으로 Closed-loop 완성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7909560" y="51023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Intelligent Matching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64008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4008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355080"/>
            <a:ext cx="10881360" cy="0"/>
          </a:xfrm>
          <a:prstGeom prst="line">
            <a:avLst/>
          </a:prstGeom>
          <a:noFill/>
          <a:ln w="12700">
            <a:solidFill>
              <a:srgbClr val="2A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4389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768096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효과: 업무 효율의 혁신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122529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누락은 줄이고 속도는 높이는 방향으로 사용자와 팀의 생산성을 개선합니다.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2011680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157984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효율성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33272" y="2468880"/>
            <a:ext cx="3145536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검색과 메일 정리 시간이 줄어들어 실제 업무 처리에 더 많은 시간을 쓸 수 있습니다.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370832" y="2011680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2157984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정확성 제고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5424" y="2468880"/>
            <a:ext cx="3145536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분석으로 업무 누락을 줄이고 마감일과 우선순위를 더 일관되게 관리할 수 있습니다.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7872984" y="2011680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132B4B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37576" y="2157984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최적화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37576" y="2468880"/>
            <a:ext cx="3145536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회신과 추천 문서 제공으로 팀 내 피드백 속도와 문맥 공유 품질이 높아집니다.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10012680" y="54132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FF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Efficiency Up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" y="64008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Mail2Task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008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B3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Mail2Task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Mail2Task Presentation v3</dc:title>
  <dc:subject>Mail2Task dark tech presentation</dc:subject>
  <dc:creator>Codex</dc:creator>
  <cp:lastModifiedBy>Codex</cp:lastModifiedBy>
  <cp:revision>1</cp:revision>
  <dcterms:created xsi:type="dcterms:W3CDTF">2026-04-29T07:26:36Z</dcterms:created>
  <dcterms:modified xsi:type="dcterms:W3CDTF">2026-04-29T07:26:36Z</dcterms:modified>
</cp:coreProperties>
</file>