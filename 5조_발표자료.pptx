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74" r:id="rId4"/>
    <p:sldId id="259" r:id="rId5"/>
    <p:sldId id="260" r:id="rId6"/>
    <p:sldId id="261" r:id="rId7"/>
    <p:sldId id="262" r:id="rId8"/>
    <p:sldId id="267" r:id="rId9"/>
    <p:sldId id="268" r:id="rId10"/>
    <p:sldId id="271" r:id="rId11"/>
    <p:sldId id="269" r:id="rId12"/>
    <p:sldId id="270" r:id="rId13"/>
    <p:sldId id="272" r:id="rId14"/>
    <p:sldId id="263" r:id="rId15"/>
    <p:sldId id="266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474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0726" autoAdjust="0"/>
  </p:normalViewPr>
  <p:slideViewPr>
    <p:cSldViewPr snapToGrid="0" snapToObjects="1">
      <p:cViewPr varScale="1">
        <p:scale>
          <a:sx n="92" d="100"/>
          <a:sy n="92" d="100"/>
        </p:scale>
        <p:origin x="118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2242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안녕하십니까 </a:t>
            </a:r>
            <a:endParaRPr lang="en-US" altLang="ko-KR" dirty="0"/>
          </a:p>
          <a:p>
            <a:r>
              <a:rPr lang="ko-KR" altLang="en-US" dirty="0"/>
              <a:t>메일 기반 업무 자동화 시스템 </a:t>
            </a:r>
            <a:r>
              <a:rPr lang="en-US" altLang="ko-KR" dirty="0"/>
              <a:t>Mail2Task </a:t>
            </a:r>
            <a:r>
              <a:rPr lang="ko-KR" altLang="en-US" dirty="0"/>
              <a:t>를 발표하게 된 김동환입니다</a:t>
            </a:r>
            <a:r>
              <a:rPr lang="en-US" altLang="ko-KR" dirty="0"/>
              <a:t>.</a:t>
            </a:r>
          </a:p>
          <a:p>
            <a:r>
              <a:rPr lang="en-US" dirty="0"/>
              <a:t>(10</a:t>
            </a:r>
            <a:r>
              <a:rPr lang="ko-KR" altLang="en-US" dirty="0"/>
              <a:t>초</a:t>
            </a:r>
            <a:r>
              <a:rPr lang="en-US" altLang="ko-KR" dirty="0"/>
              <a:t>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목차는 프로젝트 배경부터 팀원 소개까지 </a:t>
            </a:r>
            <a:r>
              <a:rPr lang="en-US" altLang="ko-KR" dirty="0"/>
              <a:t>8</a:t>
            </a:r>
            <a:r>
              <a:rPr lang="ko-KR" altLang="en-US" dirty="0"/>
              <a:t>개로 </a:t>
            </a:r>
            <a:r>
              <a:rPr lang="ko-KR" altLang="en-US" dirty="0" err="1"/>
              <a:t>구성되어있습니다</a:t>
            </a:r>
            <a:r>
              <a:rPr lang="en-US" altLang="ko-KR" dirty="0"/>
              <a:t>.</a:t>
            </a:r>
          </a:p>
          <a:p>
            <a:r>
              <a:rPr lang="en-US" dirty="0"/>
              <a:t>(10</a:t>
            </a:r>
            <a:r>
              <a:rPr lang="ko-KR" altLang="en-US" dirty="0"/>
              <a:t>초</a:t>
            </a:r>
            <a:r>
              <a:rPr lang="en-US" altLang="ko-KR" dirty="0"/>
              <a:t>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저희 메일 </a:t>
            </a:r>
            <a:r>
              <a:rPr lang="en-US" altLang="ko-KR" dirty="0"/>
              <a:t>2 </a:t>
            </a:r>
            <a:r>
              <a:rPr lang="ko-KR" altLang="en-US" dirty="0"/>
              <a:t>태스크 자동화 솔루션의 장점을 소개하기 앞서 기존의 메일 시스템은 왜 비효율적이었는지 살펴보도록 하겠습니다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실무에서는 많은 양의 업무관련 메일이 들어 들어오게 됩니다</a:t>
            </a:r>
            <a:r>
              <a:rPr lang="en-US" altLang="ko-KR" dirty="0"/>
              <a:t>. </a:t>
            </a:r>
            <a:r>
              <a:rPr lang="ko-KR" altLang="en-US" dirty="0"/>
              <a:t>때문에 업무 요청이 여러 메일에 흩어져 있어 처리해야 할 업무의 우선순위를 파악하기 어렵다는 단점이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또한 담당자가 메일을 하나씩 확인하기에 업무 파악 자체에 시간이 많이 소요됩니다</a:t>
            </a:r>
            <a:r>
              <a:rPr lang="en-US" altLang="ko-KR" dirty="0"/>
              <a:t>. </a:t>
            </a:r>
            <a:r>
              <a:rPr lang="ko-KR" altLang="en-US" dirty="0"/>
              <a:t>거기에 첨부된 </a:t>
            </a:r>
            <a:r>
              <a:rPr lang="en-US" altLang="ko-KR" dirty="0"/>
              <a:t>PDF </a:t>
            </a:r>
            <a:r>
              <a:rPr lang="ko-KR" altLang="en-US" dirty="0"/>
              <a:t>파일까지 하나씩 열어 파악하려면 굉장히 비효율적이었다는 점을 </a:t>
            </a:r>
            <a:endParaRPr lang="en-US" altLang="ko-KR" dirty="0"/>
          </a:p>
          <a:p>
            <a:r>
              <a:rPr lang="ko-KR" altLang="en-US" dirty="0"/>
              <a:t>알 수 있습니다</a:t>
            </a:r>
            <a:r>
              <a:rPr lang="en-US" altLang="ko-KR" dirty="0"/>
              <a:t>.</a:t>
            </a:r>
          </a:p>
          <a:p>
            <a:r>
              <a:rPr lang="en-US" dirty="0"/>
              <a:t>(40</a:t>
            </a:r>
            <a:r>
              <a:rPr lang="ko-KR" altLang="en-US" dirty="0"/>
              <a:t>초</a:t>
            </a:r>
            <a:r>
              <a:rPr lang="en-US" altLang="ko-KR" dirty="0"/>
              <a:t>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저희는 이러한 문제점을 해소하기 위해 메일을 자동으로 수집하고</a:t>
            </a:r>
            <a:r>
              <a:rPr lang="en-US" altLang="ko-KR" dirty="0"/>
              <a:t>, </a:t>
            </a:r>
            <a:r>
              <a:rPr lang="ko-KR" altLang="en-US" dirty="0"/>
              <a:t>본문과 첨부된 </a:t>
            </a:r>
            <a:r>
              <a:rPr lang="en-US" altLang="ko-KR" dirty="0"/>
              <a:t>PDF </a:t>
            </a:r>
            <a:r>
              <a:rPr lang="ko-KR" altLang="en-US" dirty="0"/>
              <a:t>내용을 분석한 후</a:t>
            </a:r>
            <a:r>
              <a:rPr lang="en-US" altLang="ko-KR" dirty="0"/>
              <a:t>, </a:t>
            </a:r>
            <a:r>
              <a:rPr lang="ko-KR" altLang="en-US" dirty="0"/>
              <a:t>이로부터 유용한 업무정보들을 추출하여</a:t>
            </a:r>
            <a:endParaRPr lang="en-US" altLang="ko-KR" dirty="0"/>
          </a:p>
          <a:p>
            <a:r>
              <a:rPr lang="ko-KR" altLang="en-US" dirty="0"/>
              <a:t>이를 웹 사이트로 보여주는 솔루션을 개발하였습니다</a:t>
            </a:r>
            <a:r>
              <a:rPr lang="en-US" altLang="ko-KR" dirty="0"/>
              <a:t>.</a:t>
            </a:r>
          </a:p>
          <a:p>
            <a:r>
              <a:rPr lang="en-US" dirty="0"/>
              <a:t>(20</a:t>
            </a:r>
            <a:r>
              <a:rPr lang="ko-KR" altLang="en-US" dirty="0"/>
              <a:t>초</a:t>
            </a:r>
            <a:r>
              <a:rPr lang="en-US" altLang="ko-KR" dirty="0"/>
              <a:t>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MongoDB -&gt; Not Only SQL </a:t>
            </a:r>
            <a:r>
              <a:rPr lang="ko-KR" altLang="en-US" dirty="0"/>
              <a:t>을 사용하여 유연하게 데이터 구조를 변경함으로써 빠른 확장성을 추구</a:t>
            </a:r>
            <a:endParaRPr lang="en-US" altLang="ko-KR" dirty="0"/>
          </a:p>
          <a:p>
            <a:r>
              <a:rPr lang="ko-KR" altLang="en-US" dirty="0"/>
              <a:t>복잡한 쿼리를 사용하지 않고</a:t>
            </a:r>
            <a:r>
              <a:rPr lang="en-US" altLang="ko-KR" dirty="0"/>
              <a:t>, </a:t>
            </a:r>
            <a:r>
              <a:rPr lang="ko-KR" altLang="en-US"/>
              <a:t>메일은 로그 데이터라 </a:t>
            </a:r>
            <a:r>
              <a:rPr lang="en-US" altLang="ko-KR" dirty="0"/>
              <a:t>RDB</a:t>
            </a:r>
            <a:r>
              <a:rPr lang="ko-KR" altLang="en-US" dirty="0"/>
              <a:t>의 엄격한 스키마구조와 정규화에 따른 이점이 현재로는 없었음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그래서 앞서 </a:t>
            </a:r>
            <a:r>
              <a:rPr lang="ko-KR" altLang="en-US" dirty="0" err="1"/>
              <a:t>설명드렸다시피</a:t>
            </a:r>
            <a:r>
              <a:rPr lang="ko-KR" altLang="en-US" dirty="0"/>
              <a:t> 기존방식과 저희 메일시스템의 차별점은 위 슬라이드와 같습니다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47FE6-6133-AB43-C517-CF2EFD422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4D2571-3DF7-6E7B-98C9-F939960EA7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141801-AAE3-9C94-32E5-442778CB3F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2F34AD-6EDA-8001-8B50-3CFACDCACC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0416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D7939-8F89-387A-2321-77CCFAFDD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E6DD7C-C4D3-CC8A-BBD7-0B7B5C0758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FC55E4-8972-C839-317A-36AD34F306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다음은 수집할 </a:t>
            </a:r>
            <a:r>
              <a:rPr lang="en-US" altLang="ko-KR" dirty="0"/>
              <a:t>Gmail </a:t>
            </a:r>
            <a:r>
              <a:rPr lang="ko-KR" altLang="en-US" dirty="0"/>
              <a:t>의 주소와 비밀번호를 설정하는 부분입니다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2FFE3A-9BFE-42C2-0CF6-B240BEDECA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2108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94EB4-FC08-5738-A4B1-6D352D183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E36ABB-C98A-0A72-F2C1-1DA1A7892D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9D62F6-1822-A2E8-0010-A1176E5CA4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C692F0-5697-79BF-203C-8601DC30B6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5169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4FE97-2AA7-5657-9F94-4B7AA465C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8D5476-BD85-D786-3EC6-96205D1C57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AEB676-8BFE-69DD-2617-C1AD9D71A7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793E80-73E8-0EC3-C2C5-7891B957D9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9690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62447-73DA-E158-C6C0-374A957E4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C715B4-05D7-5FB3-C280-73AFA61D4C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0BFAAC-B4AC-C508-6B68-9E83D31C4B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EB439A-F809-133C-AA73-B53541219D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3615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38A58-5662-9024-BCDA-8DDDC2760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7591C8-BC04-8496-396D-0C5BD61D26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DD0D0F-86A0-E7B2-8F9F-F5B4340465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D2839B-6094-87F3-BFFC-7E18574C35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0403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정리하면 자동화된 수집과 추출을 통하여 주요한 업무 정보들을 추출하고</a:t>
            </a:r>
            <a:endParaRPr lang="en-US" altLang="ko-KR" dirty="0"/>
          </a:p>
          <a:p>
            <a:r>
              <a:rPr lang="ko-KR" altLang="en-US" dirty="0"/>
              <a:t>이를 통해 업무요청 누락과 반복작업을 줄임으로써 업무효율성을</a:t>
            </a:r>
            <a:endParaRPr lang="en-US" altLang="ko-KR" dirty="0"/>
          </a:p>
          <a:p>
            <a:r>
              <a:rPr lang="ko-KR" altLang="en-US" dirty="0"/>
              <a:t>향상시킬 수 있다고 보면 될 것 같습니다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22CFB-8646-C843-7F15-F825C6600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F5813A-F49B-5D0D-C33F-51B1B7FD69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D8FDDD-231E-7816-FE48-4F15602F6A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984E1B-8398-A16D-277E-619F376C34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0408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5170135" y="821282"/>
            <a:ext cx="3566160" cy="3566160"/>
          </a:xfrm>
          <a:prstGeom prst="ellipse">
            <a:avLst/>
          </a:prstGeom>
          <a:solidFill>
            <a:srgbClr val="065A82">
              <a:alpha val="22000"/>
            </a:srgbClr>
          </a:solidFill>
          <a:ln w="12700">
            <a:solidFill>
              <a:srgbClr val="065A82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355080" y="1767568"/>
            <a:ext cx="2194560" cy="2194560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94360" y="1143000"/>
            <a:ext cx="274320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94360" y="114300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MINI PROJECT 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600200"/>
            <a:ext cx="68580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600" b="1" kern="0" spc="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Mail2Task</a:t>
            </a:r>
            <a:endParaRPr lang="en-US" sz="6600" dirty="0"/>
          </a:p>
        </p:txBody>
      </p:sp>
      <p:sp>
        <p:nvSpPr>
          <p:cNvPr id="9" name="Text 7"/>
          <p:cNvSpPr/>
          <p:nvPr/>
        </p:nvSpPr>
        <p:spPr>
          <a:xfrm>
            <a:off x="594360" y="30175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 기반 업무 자동화 시스템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0" y="4690872"/>
            <a:ext cx="9144000" cy="452628"/>
          </a:xfrm>
          <a:prstGeom prst="rect">
            <a:avLst/>
          </a:prstGeom>
          <a:solidFill>
            <a:srgbClr val="0F1E36"/>
          </a:solidFill>
          <a:ln w="12700">
            <a:solidFill>
              <a:srgbClr val="0F1E3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57200" y="4690872"/>
            <a:ext cx="822960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92B4"/>
                </a:solidFill>
              </a:rPr>
              <a:t>Gmail  ·  PDF 추출  ·  MongoDB  ·  FastAPI  ·  OpenAI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94360" y="1828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목차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kern="0" spc="300" dirty="0">
                <a:solidFill>
                  <a:srgbClr val="0D9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Contents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1261872"/>
            <a:ext cx="3141492" cy="73058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F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02920" y="1261872"/>
            <a:ext cx="423736" cy="730579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02920" y="1261872"/>
            <a:ext cx="423736" cy="7305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43000" y="1353312"/>
            <a:ext cx="2557028" cy="3068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배경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43000" y="1773936"/>
            <a:ext cx="2557028" cy="2337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 기반 업무 </a:t>
            </a:r>
            <a:r>
              <a:rPr lang="en-US" sz="1100" dirty="0" err="1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관리의</a:t>
            </a:r>
            <a:r>
              <a:rPr lang="en-US" sz="11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dirty="0" err="1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비효율성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1261872"/>
            <a:ext cx="3141492" cy="73058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F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846320" y="1261872"/>
            <a:ext cx="423736" cy="730579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846320" y="1261872"/>
            <a:ext cx="423736" cy="7305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0" y="1353312"/>
            <a:ext cx="2557028" cy="3068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방안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486400" y="1773936"/>
            <a:ext cx="2557028" cy="2337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Mail2Task의 핵심 접근 방식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245560"/>
            <a:ext cx="3141492" cy="73058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F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502920" y="2245560"/>
            <a:ext cx="423736" cy="730579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02920" y="2245560"/>
            <a:ext cx="423736" cy="7305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43000" y="2337000"/>
            <a:ext cx="2557028" cy="3068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기능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143000" y="2757624"/>
            <a:ext cx="2557028" cy="2337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흐름에 맞춘 자동화 기능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2245560"/>
            <a:ext cx="3141492" cy="73058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F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4846320" y="2245560"/>
            <a:ext cx="423736" cy="730579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846320" y="2245560"/>
            <a:ext cx="423736" cy="7305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486400" y="2337000"/>
            <a:ext cx="2557028" cy="3068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흐름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486400" y="2757624"/>
            <a:ext cx="2557028" cy="2337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동작 구조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" y="3229248"/>
            <a:ext cx="3141492" cy="73058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F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502920" y="3229248"/>
            <a:ext cx="423736" cy="730579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502920" y="3238040"/>
            <a:ext cx="423736" cy="7305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143000" y="3320688"/>
            <a:ext cx="2557028" cy="3068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차별점</a:t>
            </a: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143000" y="3741312"/>
            <a:ext cx="2557028" cy="2337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실무형 자동화의 특징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46320" y="3229248"/>
            <a:ext cx="3141492" cy="73058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F82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2" name="Shape 30"/>
          <p:cNvSpPr/>
          <p:nvPr/>
        </p:nvSpPr>
        <p:spPr>
          <a:xfrm>
            <a:off x="4846320" y="3229248"/>
            <a:ext cx="423736" cy="730579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4846320" y="3229248"/>
            <a:ext cx="423736" cy="7305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486400" y="3320688"/>
            <a:ext cx="2557028" cy="3068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화면 구성</a:t>
            </a: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486400" y="3741312"/>
            <a:ext cx="2557028" cy="2337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6" name="Shape 24">
            <a:extLst>
              <a:ext uri="{FF2B5EF4-FFF2-40B4-BE49-F238E27FC236}">
                <a16:creationId xmlns:a16="http://schemas.microsoft.com/office/drawing/2014/main" id="{3EF3C560-2251-596D-2C9B-E501C3712469}"/>
              </a:ext>
            </a:extLst>
          </p:cNvPr>
          <p:cNvSpPr/>
          <p:nvPr/>
        </p:nvSpPr>
        <p:spPr>
          <a:xfrm>
            <a:off x="492664" y="4186135"/>
            <a:ext cx="3141492" cy="73058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F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25">
            <a:extLst>
              <a:ext uri="{FF2B5EF4-FFF2-40B4-BE49-F238E27FC236}">
                <a16:creationId xmlns:a16="http://schemas.microsoft.com/office/drawing/2014/main" id="{9558BE80-A5F3-FB40-7510-ADA7B3B6B4E1}"/>
              </a:ext>
            </a:extLst>
          </p:cNvPr>
          <p:cNvSpPr/>
          <p:nvPr/>
        </p:nvSpPr>
        <p:spPr>
          <a:xfrm>
            <a:off x="492664" y="4186135"/>
            <a:ext cx="423736" cy="730579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26">
            <a:extLst>
              <a:ext uri="{FF2B5EF4-FFF2-40B4-BE49-F238E27FC236}">
                <a16:creationId xmlns:a16="http://schemas.microsoft.com/office/drawing/2014/main" id="{F6791B4D-2ACF-4CAC-F0DA-1E071DFCCEB5}"/>
              </a:ext>
            </a:extLst>
          </p:cNvPr>
          <p:cNvSpPr/>
          <p:nvPr/>
        </p:nvSpPr>
        <p:spPr>
          <a:xfrm>
            <a:off x="492664" y="4186134"/>
            <a:ext cx="423736" cy="7305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1500" dirty="0"/>
          </a:p>
        </p:txBody>
      </p:sp>
      <p:sp>
        <p:nvSpPr>
          <p:cNvPr id="39" name="Text 27">
            <a:extLst>
              <a:ext uri="{FF2B5EF4-FFF2-40B4-BE49-F238E27FC236}">
                <a16:creationId xmlns:a16="http://schemas.microsoft.com/office/drawing/2014/main" id="{C8D9E1AD-C36A-63FB-C7CC-FF3EE0259628}"/>
              </a:ext>
            </a:extLst>
          </p:cNvPr>
          <p:cNvSpPr/>
          <p:nvPr/>
        </p:nvSpPr>
        <p:spPr>
          <a:xfrm>
            <a:off x="1132744" y="4277575"/>
            <a:ext cx="2557028" cy="3068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</a:t>
            </a:r>
            <a:r>
              <a:rPr lang="en-US" altLang="ko-KR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효과</a:t>
            </a:r>
            <a:endParaRPr lang="en-US" altLang="ko-KR" dirty="0"/>
          </a:p>
        </p:txBody>
      </p:sp>
      <p:sp>
        <p:nvSpPr>
          <p:cNvPr id="40" name="Text 28">
            <a:extLst>
              <a:ext uri="{FF2B5EF4-FFF2-40B4-BE49-F238E27FC236}">
                <a16:creationId xmlns:a16="http://schemas.microsoft.com/office/drawing/2014/main" id="{EAD2BC1B-5CCE-E5C5-8F4F-C18B0496E09D}"/>
              </a:ext>
            </a:extLst>
          </p:cNvPr>
          <p:cNvSpPr/>
          <p:nvPr/>
        </p:nvSpPr>
        <p:spPr>
          <a:xfrm>
            <a:off x="1132744" y="4698199"/>
            <a:ext cx="2557028" cy="2337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100" dirty="0" err="1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사용자와</a:t>
            </a:r>
            <a:r>
              <a:rPr lang="en-US" altLang="ko-KR" sz="11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100" dirty="0" err="1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조직의</a:t>
            </a:r>
            <a:r>
              <a:rPr lang="en-US" altLang="ko-KR" sz="11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100" dirty="0" err="1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변화</a:t>
            </a:r>
            <a:endParaRPr lang="en-US" altLang="ko-KR" sz="1100" dirty="0"/>
          </a:p>
        </p:txBody>
      </p:sp>
      <p:sp>
        <p:nvSpPr>
          <p:cNvPr id="41" name="Shape 29">
            <a:extLst>
              <a:ext uri="{FF2B5EF4-FFF2-40B4-BE49-F238E27FC236}">
                <a16:creationId xmlns:a16="http://schemas.microsoft.com/office/drawing/2014/main" id="{4846FD78-3C7E-85DC-FB2A-0575E95C1A78}"/>
              </a:ext>
            </a:extLst>
          </p:cNvPr>
          <p:cNvSpPr/>
          <p:nvPr/>
        </p:nvSpPr>
        <p:spPr>
          <a:xfrm>
            <a:off x="4836064" y="4186135"/>
            <a:ext cx="3141492" cy="73058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F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0">
            <a:extLst>
              <a:ext uri="{FF2B5EF4-FFF2-40B4-BE49-F238E27FC236}">
                <a16:creationId xmlns:a16="http://schemas.microsoft.com/office/drawing/2014/main" id="{6B1FF3E4-D3DF-8B0E-A93B-D6154473B997}"/>
              </a:ext>
            </a:extLst>
          </p:cNvPr>
          <p:cNvSpPr/>
          <p:nvPr/>
        </p:nvSpPr>
        <p:spPr>
          <a:xfrm>
            <a:off x="4836064" y="4186135"/>
            <a:ext cx="423736" cy="730579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31">
            <a:extLst>
              <a:ext uri="{FF2B5EF4-FFF2-40B4-BE49-F238E27FC236}">
                <a16:creationId xmlns:a16="http://schemas.microsoft.com/office/drawing/2014/main" id="{011E1281-7B95-2B7F-EB83-8D71A53007DC}"/>
              </a:ext>
            </a:extLst>
          </p:cNvPr>
          <p:cNvSpPr/>
          <p:nvPr/>
        </p:nvSpPr>
        <p:spPr>
          <a:xfrm>
            <a:off x="4836064" y="4186135"/>
            <a:ext cx="423736" cy="7305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endParaRPr lang="en-US" sz="1500" dirty="0"/>
          </a:p>
        </p:txBody>
      </p:sp>
      <p:sp>
        <p:nvSpPr>
          <p:cNvPr id="44" name="Text 32">
            <a:extLst>
              <a:ext uri="{FF2B5EF4-FFF2-40B4-BE49-F238E27FC236}">
                <a16:creationId xmlns:a16="http://schemas.microsoft.com/office/drawing/2014/main" id="{11AC688A-3F0F-AD25-4854-CAA3085AF239}"/>
              </a:ext>
            </a:extLst>
          </p:cNvPr>
          <p:cNvSpPr/>
          <p:nvPr/>
        </p:nvSpPr>
        <p:spPr>
          <a:xfrm>
            <a:off x="5476144" y="4277575"/>
            <a:ext cx="2557028" cy="3068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팀원 소개</a:t>
            </a:r>
            <a:endParaRPr lang="en-US" dirty="0"/>
          </a:p>
        </p:txBody>
      </p:sp>
      <p:sp>
        <p:nvSpPr>
          <p:cNvPr id="45" name="Text 33">
            <a:extLst>
              <a:ext uri="{FF2B5EF4-FFF2-40B4-BE49-F238E27FC236}">
                <a16:creationId xmlns:a16="http://schemas.microsoft.com/office/drawing/2014/main" id="{67FE3239-5560-C057-58FA-FB2681A0FDE3}"/>
              </a:ext>
            </a:extLst>
          </p:cNvPr>
          <p:cNvSpPr/>
          <p:nvPr/>
        </p:nvSpPr>
        <p:spPr>
          <a:xfrm>
            <a:off x="5476144" y="4698199"/>
            <a:ext cx="2557028" cy="2337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사용자와 조직의 변화</a:t>
            </a:r>
            <a:endParaRPr lang="en-US" sz="1100" dirty="0"/>
          </a:p>
        </p:txBody>
      </p:sp>
      <p:sp>
        <p:nvSpPr>
          <p:cNvPr id="46" name="Text 23">
            <a:extLst>
              <a:ext uri="{FF2B5EF4-FFF2-40B4-BE49-F238E27FC236}">
                <a16:creationId xmlns:a16="http://schemas.microsoft.com/office/drawing/2014/main" id="{B57B5A07-92C6-C78A-7C8C-833E7515DF84}"/>
              </a:ext>
            </a:extLst>
          </p:cNvPr>
          <p:cNvSpPr/>
          <p:nvPr/>
        </p:nvSpPr>
        <p:spPr>
          <a:xfrm>
            <a:off x="5511148" y="3726043"/>
            <a:ext cx="2557028" cy="2337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동작 화면 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347472" y="137160"/>
            <a:ext cx="566928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47472" y="137160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78992" y="54864"/>
            <a:ext cx="7818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기존의 </a:t>
            </a:r>
            <a:r>
              <a:rPr lang="en-US" sz="24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</a:t>
            </a: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</a:t>
            </a:r>
            <a:r>
              <a:rPr lang="en-US" altLang="ko-KR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</a:t>
            </a: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비효율적인가</a:t>
            </a:r>
            <a:r>
              <a:rPr lang="en-US" altLang="ko-KR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0" y="749808"/>
            <a:ext cx="9144000" cy="320040"/>
          </a:xfrm>
          <a:prstGeom prst="rect">
            <a:avLst/>
          </a:prstGeom>
          <a:solidFill>
            <a:srgbClr val="EBF5F8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0" y="749808"/>
            <a:ext cx="4572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01168" y="74980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4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기존의 메일 시스템</a:t>
            </a:r>
            <a:r>
              <a:rPr lang="en-US" sz="14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 </a:t>
            </a:r>
            <a:r>
              <a:rPr lang="en-US" sz="1400" i="1" dirty="0" err="1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현실적인</a:t>
            </a:r>
            <a:r>
              <a:rPr lang="en-US" sz="14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400" i="1" dirty="0" err="1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한계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0" y="4873752"/>
            <a:ext cx="1554480" cy="201168"/>
          </a:xfrm>
          <a:prstGeom prst="rect">
            <a:avLst/>
          </a:prstGeom>
          <a:noFill/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315200" y="487375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1  / 13  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1188720"/>
            <a:ext cx="2670048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11480" y="1188720"/>
            <a:ext cx="2670048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289304" y="1622879"/>
            <a:ext cx="914400" cy="914400"/>
          </a:xfrm>
          <a:prstGeom prst="ellipse">
            <a:avLst/>
          </a:prstGeom>
          <a:solidFill>
            <a:srgbClr val="065A82">
              <a:alpha val="12000"/>
            </a:srgbClr>
          </a:solidFill>
          <a:ln w="12700">
            <a:solidFill>
              <a:srgbClr val="065A8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289304" y="1614084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📬</a:t>
            </a:r>
            <a:endParaRPr lang="en-US" sz="3200" dirty="0"/>
          </a:p>
        </p:txBody>
      </p:sp>
      <p:sp>
        <p:nvSpPr>
          <p:cNvPr id="15" name="Shape 13"/>
          <p:cNvSpPr/>
          <p:nvPr/>
        </p:nvSpPr>
        <p:spPr>
          <a:xfrm>
            <a:off x="548640" y="2781703"/>
            <a:ext cx="365760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1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548640" y="2487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33272" y="2781703"/>
            <a:ext cx="198249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 err="1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</a:t>
            </a:r>
            <a:r>
              <a:rPr lang="en-US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b="1" dirty="0" err="1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</a:t>
            </a:r>
            <a:r>
              <a:rPr lang="ko-KR" altLang="en-US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 분산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48640" y="3379581"/>
            <a:ext cx="2414016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요청이 여러 메일에 흩어져 있어 업무들의 우선순위를 파악하기 어렵습니다</a:t>
            </a:r>
            <a:r>
              <a:rPr lang="en-US" altLang="ko-KR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19272" y="1261872"/>
            <a:ext cx="2670048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3319272" y="1188720"/>
            <a:ext cx="2670048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4197096" y="1622879"/>
            <a:ext cx="914400" cy="9144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197096" y="1614084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👤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3456432" y="2781703"/>
            <a:ext cx="36576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2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3456432" y="2487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941063" y="2781703"/>
            <a:ext cx="1962971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수동 정리의 한계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456432" y="3379581"/>
            <a:ext cx="2414016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 err="1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담당자가</a:t>
            </a: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dirty="0" err="1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메일을</a:t>
            </a: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dirty="0" err="1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하나씩</a:t>
            </a: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dirty="0" err="1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</a:t>
            </a: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dirty="0" err="1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읽고</a:t>
            </a: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dirty="0" err="1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분류해야</a:t>
            </a: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dirty="0" err="1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해서</a:t>
            </a: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dirty="0" err="1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누락이나</a:t>
            </a: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dirty="0" err="1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</a:t>
            </a: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dirty="0" err="1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지연이</a:t>
            </a: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dirty="0" err="1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발생합니다</a:t>
            </a: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27064" y="1188720"/>
            <a:ext cx="2670048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6227064" y="1188720"/>
            <a:ext cx="2670048" cy="7315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7104888" y="1614084"/>
            <a:ext cx="914400" cy="914400"/>
          </a:xfrm>
          <a:prstGeom prst="ellipse">
            <a:avLst/>
          </a:prstGeom>
          <a:solidFill>
            <a:srgbClr val="B45309">
              <a:alpha val="12000"/>
            </a:srgbClr>
          </a:solidFill>
          <a:ln w="12700">
            <a:solidFill>
              <a:srgbClr val="B4530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7104888" y="1622879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⏱️</a:t>
            </a:r>
            <a:endParaRPr lang="en-US" sz="3200" dirty="0"/>
          </a:p>
        </p:txBody>
      </p:sp>
      <p:sp>
        <p:nvSpPr>
          <p:cNvPr id="31" name="Shape 29"/>
          <p:cNvSpPr/>
          <p:nvPr/>
        </p:nvSpPr>
        <p:spPr>
          <a:xfrm>
            <a:off x="6364224" y="2781703"/>
            <a:ext cx="365760" cy="3657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3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6364224" y="2487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48856" y="2781703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</a:rPr>
              <a:t>첨부파일 확인</a:t>
            </a: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364224" y="3379581"/>
            <a:ext cx="2414016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첨부 PDF까지 별도로 열어 내용을 확인해야 </a:t>
            </a:r>
            <a:r>
              <a:rPr lang="en-US" sz="1200" dirty="0" err="1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해서</a:t>
            </a: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업무효율성이 떨어집니다</a:t>
            </a:r>
            <a:r>
              <a:rPr lang="en-US" altLang="ko-KR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347472" y="137160"/>
            <a:ext cx="566928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47472" y="137160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78992" y="54864"/>
            <a:ext cx="7818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Mail2Task: 메일을 자동으로 To-do로 변환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0" y="749808"/>
            <a:ext cx="9144000" cy="320040"/>
          </a:xfrm>
          <a:prstGeom prst="rect">
            <a:avLst/>
          </a:prstGeom>
          <a:solidFill>
            <a:srgbClr val="EBF5F8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0" y="749808"/>
            <a:ext cx="4572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01168" y="74980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 err="1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메일을</a:t>
            </a:r>
            <a:r>
              <a:rPr lang="en-US" sz="14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400" i="1" dirty="0" err="1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분석하고</a:t>
            </a:r>
            <a:r>
              <a:rPr lang="en-US" sz="14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</a:t>
            </a:r>
            <a:r>
              <a:rPr lang="en-US" sz="1400" i="1" dirty="0" err="1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</a:t>
            </a:r>
            <a:r>
              <a:rPr lang="en-US" sz="14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400" i="1" dirty="0" err="1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목록으</a:t>
            </a:r>
            <a:r>
              <a:rPr lang="en-US" sz="14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</a:t>
            </a:r>
            <a:r>
              <a:rPr lang="en-US" sz="1400" i="1" dirty="0" err="1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바꾸는</a:t>
            </a:r>
            <a:r>
              <a:rPr lang="en-US" sz="14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400" i="1" dirty="0" err="1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자동화</a:t>
            </a:r>
            <a:r>
              <a:rPr lang="en-US" sz="14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4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0" y="4873752"/>
            <a:ext cx="1554480" cy="201168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315200" y="487375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2  / 13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161288"/>
            <a:ext cx="2331720" cy="36118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65760" y="1344168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💡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57200" y="2075688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D9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아이디어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57200" y="2571750"/>
            <a:ext cx="2148840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ko-KR" altLang="en-US" sz="1100" dirty="0">
                <a:solidFill>
                  <a:srgbClr val="D1D5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메일을 업무 목록</a:t>
            </a:r>
            <a:r>
              <a:rPr lang="en-US" altLang="ko-KR" sz="1100" dirty="0">
                <a:solidFill>
                  <a:srgbClr val="D1D5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(Task)</a:t>
            </a:r>
            <a:r>
              <a:rPr lang="ko-KR" altLang="en-US" sz="1100" dirty="0">
                <a:solidFill>
                  <a:srgbClr val="D1D5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으로 변환하여 우선순위와 마감일을 </a:t>
            </a:r>
            <a:br>
              <a:rPr lang="en-US" altLang="ko-KR" sz="1100" dirty="0">
                <a:solidFill>
                  <a:srgbClr val="D1D5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</a:br>
            <a:r>
              <a:rPr lang="ko-KR" altLang="en-US" sz="1100" dirty="0">
                <a:solidFill>
                  <a:srgbClr val="D1D5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중심으로 효율적으로 관리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5824" y="4178808"/>
            <a:ext cx="132588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854616" y="417880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 → Task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999232" y="1188720"/>
            <a:ext cx="2850479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2999232" y="1197864"/>
            <a:ext cx="2850479" cy="5486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3136392" y="1371600"/>
            <a:ext cx="438912" cy="43891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3145536" y="13716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694176" y="1371600"/>
            <a:ext cx="22128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📩  메일 자동 수집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91256" y="1938528"/>
            <a:ext cx="27249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altLang="ko-KR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Gmail IMAP </a:t>
            </a:r>
            <a:r>
              <a:rPr lang="ko-KR" alt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기반으로</a:t>
            </a:r>
          </a:p>
          <a:p>
            <a:r>
              <a:rPr lang="ko-KR" alt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메일 및 첨부파일 자동 수집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95064" y="1188720"/>
            <a:ext cx="28346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6195064" y="1188720"/>
            <a:ext cx="283464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6341368" y="1371600"/>
            <a:ext cx="438912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26" name="Text 24"/>
          <p:cNvSpPr/>
          <p:nvPr/>
        </p:nvSpPr>
        <p:spPr>
          <a:xfrm>
            <a:off x="6354204" y="13716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90008" y="1371600"/>
            <a:ext cx="22128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🔎  본문 &amp; PDF 분석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387088" y="1938528"/>
            <a:ext cx="27249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altLang="ko-KR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</a:t>
            </a:r>
            <a:r>
              <a:rPr lang="ko-KR" alt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 제목</a:t>
            </a:r>
            <a:r>
              <a:rPr lang="en-US" altLang="ko-KR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</a:t>
            </a:r>
            <a:r>
              <a:rPr lang="ko-KR" alt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본문</a:t>
            </a:r>
            <a:r>
              <a:rPr lang="en-US" altLang="ko-KR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</a:t>
            </a:r>
            <a:r>
              <a:rPr lang="ko-KR" alt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첨부 </a:t>
            </a:r>
            <a:r>
              <a:rPr lang="en-US" altLang="ko-KR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PDF</a:t>
            </a:r>
            <a:r>
              <a:rPr lang="ko-KR" alt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</a:t>
            </a:r>
          </a:p>
          <a:p>
            <a:r>
              <a:rPr lang="ko-KR" alt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 분석하여 업무 내용 추출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999232" y="3044952"/>
            <a:ext cx="28346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2999232" y="3044952"/>
            <a:ext cx="2834640" cy="45719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3145536" y="3227832"/>
            <a:ext cx="438912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32" name="Text 30"/>
          <p:cNvSpPr/>
          <p:nvPr/>
        </p:nvSpPr>
        <p:spPr>
          <a:xfrm>
            <a:off x="3136392" y="3227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694176" y="3227832"/>
            <a:ext cx="22128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🧠  업무 정보 추출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191256" y="3794760"/>
            <a:ext cx="27249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altLang="ko-KR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</a:t>
            </a:r>
            <a:r>
              <a:rPr lang="ko-KR" alt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</a:t>
            </a:r>
            <a:r>
              <a:rPr lang="en-US" altLang="ko-KR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(Task), </a:t>
            </a:r>
            <a:r>
              <a:rPr lang="ko-KR" alt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마감일</a:t>
            </a:r>
            <a:r>
              <a:rPr lang="en-US" altLang="ko-KR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</a:t>
            </a:r>
          </a:p>
          <a:p>
            <a:r>
              <a:rPr lang="ko-KR" alt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우선순위</a:t>
            </a:r>
            <a:r>
              <a:rPr lang="en-US" altLang="ko-KR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</a:t>
            </a:r>
            <a:r>
              <a:rPr lang="ko-KR" alt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유형 자동 추출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195064" y="3044952"/>
            <a:ext cx="28346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6195064" y="3026664"/>
            <a:ext cx="2834640" cy="45719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6341368" y="3227832"/>
            <a:ext cx="438912" cy="43891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38" name="Text 36"/>
          <p:cNvSpPr/>
          <p:nvPr/>
        </p:nvSpPr>
        <p:spPr>
          <a:xfrm>
            <a:off x="6354204" y="3227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890008" y="3227832"/>
            <a:ext cx="22128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🖥️  웹 화면 통합 관리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377944" y="3794760"/>
            <a:ext cx="27249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altLang="ko-KR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</a:t>
            </a:r>
            <a:r>
              <a:rPr lang="ko-KR" alt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추출된 업무를 대시보드에서</a:t>
            </a:r>
          </a:p>
          <a:p>
            <a:r>
              <a:rPr lang="ko-KR" alt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우선순위별로 통합 관리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347472" y="137160"/>
            <a:ext cx="566928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47472" y="137160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78992" y="54864"/>
            <a:ext cx="7818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Mail2Task </a:t>
            </a: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</a:t>
            </a: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</a:t>
            </a: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기능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0" y="749808"/>
            <a:ext cx="9144000" cy="320040"/>
          </a:xfrm>
          <a:prstGeom prst="rect">
            <a:avLst/>
          </a:prstGeom>
          <a:solidFill>
            <a:srgbClr val="EBF5F8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0" y="749808"/>
            <a:ext cx="4572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01168" y="74980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4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 수집부터 </a:t>
            </a:r>
            <a:r>
              <a:rPr lang="en-US" altLang="ko-KR" sz="14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Task </a:t>
            </a:r>
            <a:r>
              <a:rPr lang="ko-KR" altLang="en-US" sz="14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</a:t>
            </a:r>
            <a:r>
              <a:rPr lang="en-US" altLang="ko-KR" sz="14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</a:t>
            </a:r>
            <a:r>
              <a:rPr lang="ko-KR" altLang="en-US" sz="14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 알림까지 전체 업무 흐름 자동화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0" y="4873752"/>
            <a:ext cx="1554480" cy="201168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315200" y="487375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3  /  13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1207008"/>
            <a:ext cx="83210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11480" y="1207008"/>
            <a:ext cx="45720" cy="6217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521208" y="1289304"/>
            <a:ext cx="45720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21208" y="1289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1280160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📧 </a:t>
            </a:r>
            <a:r>
              <a:rPr lang="en-US" altLang="ko-KR" sz="1250" b="1" dirty="0" err="1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</a:t>
            </a:r>
            <a:r>
              <a:rPr lang="en-US" altLang="ko-KR" sz="12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250" b="1" dirty="0" err="1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</a:t>
            </a:r>
            <a:r>
              <a:rPr lang="en-US" altLang="ko-KR" sz="12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250" b="1" dirty="0" err="1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</a:t>
            </a:r>
            <a:r>
              <a:rPr lang="en-US" altLang="ko-KR" sz="12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</a:t>
            </a:r>
            <a:r>
              <a:rPr lang="en-US" altLang="ko-KR" sz="1250" b="1" dirty="0" err="1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Todo_list</a:t>
            </a:r>
            <a:r>
              <a:rPr lang="en-US" altLang="ko-KR" sz="12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2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</a:t>
            </a:r>
            <a:r>
              <a:rPr lang="en-US" altLang="ko-KR" sz="12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663440" y="1298448"/>
            <a:ext cx="36576" cy="4389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818888" y="128016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100" dirty="0" err="1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</a:t>
            </a:r>
            <a:r>
              <a:rPr lang="en-US" altLang="ko-KR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100" dirty="0" err="1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본문</a:t>
            </a:r>
            <a:r>
              <a:rPr lang="ko-KR" alt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 첨부파일 내용을</a:t>
            </a:r>
            <a:r>
              <a:rPr lang="en-US" altLang="ko-KR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100" dirty="0" err="1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기준으로</a:t>
            </a:r>
            <a:r>
              <a:rPr lang="en-US" altLang="ko-KR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br>
              <a:rPr lang="en-US" altLang="ko-KR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</a:br>
            <a:r>
              <a:rPr lang="en-US" altLang="ko-KR" sz="1100" dirty="0" err="1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</a:t>
            </a:r>
            <a:r>
              <a:rPr lang="en-US" altLang="ko-KR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100" dirty="0" err="1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</a:t>
            </a:r>
            <a:r>
              <a:rPr lang="en-US" altLang="ko-KR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· </a:t>
            </a:r>
            <a:r>
              <a:rPr lang="en-US" altLang="ko-KR" sz="1100" dirty="0" err="1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마감일</a:t>
            </a:r>
            <a:r>
              <a:rPr lang="en-US" altLang="ko-KR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· </a:t>
            </a:r>
            <a:r>
              <a:rPr lang="ko-KR" alt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우선순위</a:t>
            </a:r>
            <a:r>
              <a:rPr lang="en-US" altLang="ko-KR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</a:t>
            </a:r>
            <a:r>
              <a:rPr lang="ko-KR" alt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br>
              <a:rPr lang="en-US" altLang="ko-KR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</a:br>
            <a:r>
              <a:rPr lang="en-US" altLang="ko-KR" sz="1100" dirty="0" err="1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ToDo_List</a:t>
            </a:r>
            <a:r>
              <a:rPr lang="en-US" altLang="ko-KR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형태로</a:t>
            </a:r>
            <a:r>
              <a:rPr lang="en-US" altLang="ko-KR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제공합니다</a:t>
            </a:r>
            <a:r>
              <a:rPr lang="en-US" altLang="ko-KR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altLang="ko-KR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1920240"/>
            <a:ext cx="8321040" cy="6217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411480" y="1920240"/>
            <a:ext cx="45720" cy="6217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521208" y="2002536"/>
            <a:ext cx="45720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21208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1993392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📄  PDF 첨부파일 </a:t>
            </a:r>
            <a:r>
              <a:rPr lang="en-US" sz="1250" b="1" dirty="0" err="1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sz="12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+ </a:t>
            </a:r>
            <a:r>
              <a:rPr lang="en-US" sz="1250" b="1" dirty="0" err="1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연관</a:t>
            </a:r>
            <a:r>
              <a:rPr lang="en-US" sz="12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PDF </a:t>
            </a:r>
            <a:r>
              <a:rPr lang="en-US" sz="1250" b="1" dirty="0" err="1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663440" y="2011680"/>
            <a:ext cx="36576" cy="4389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818888" y="1993392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첨부 </a:t>
            </a:r>
            <a:r>
              <a:rPr lang="en-US" altLang="ko-KR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PDF </a:t>
            </a:r>
            <a:r>
              <a:rPr lang="ko-KR" alt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내용을 분석하여 핵심 정보를 추출하고</a:t>
            </a:r>
            <a:r>
              <a:rPr lang="en-US" altLang="ko-KR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</a:t>
            </a:r>
          </a:p>
          <a:p>
            <a:r>
              <a:rPr lang="ko-KR" alt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업무와 연관된 문서를 함께 추천합니다</a:t>
            </a:r>
            <a:r>
              <a:rPr lang="en-US" altLang="ko-KR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1480" y="2633472"/>
            <a:ext cx="83210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411480" y="2633472"/>
            <a:ext cx="4572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521208" y="2715768"/>
            <a:ext cx="4572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521208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63440" y="2724912"/>
            <a:ext cx="36576" cy="4389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4818888" y="2706624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" y="3346704"/>
            <a:ext cx="8321040" cy="6217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411480" y="3346704"/>
            <a:ext cx="45720" cy="6217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521208" y="3429000"/>
            <a:ext cx="457200" cy="457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521208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97280" y="3419856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🖥️  웹 대시보드 및 상세 화면 제공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4663440" y="3438144"/>
            <a:ext cx="36576" cy="4389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4818888" y="3419856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FastAPI 웹 </a:t>
            </a:r>
            <a:r>
              <a:rPr lang="en-US" sz="1100" dirty="0" err="1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UI에서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Task </a:t>
            </a:r>
            <a:r>
              <a:rPr lang="ko-KR" alt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목록</a:t>
            </a:r>
            <a:r>
              <a:rPr lang="en-US" altLang="ko-KR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</a:t>
            </a:r>
            <a:r>
              <a:rPr lang="ko-KR" alt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우선순위</a:t>
            </a:r>
            <a:r>
              <a:rPr lang="en-US" altLang="ko-KR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</a:t>
            </a:r>
            <a:r>
              <a:rPr lang="ko-KR" alt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통계 및 상세 내용을 통합 관리합니다</a:t>
            </a:r>
            <a:r>
              <a:rPr lang="en-US" altLang="ko-KR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11480" y="4059936"/>
            <a:ext cx="83210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0" name="Shape 38"/>
          <p:cNvSpPr/>
          <p:nvPr/>
        </p:nvSpPr>
        <p:spPr>
          <a:xfrm>
            <a:off x="411480" y="4059936"/>
            <a:ext cx="45720" cy="62179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521208" y="4142232"/>
            <a:ext cx="457200" cy="4572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521208" y="4142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097280" y="2697480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📬  완료 처리 시 자동 알림 메일 발송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4663440" y="4151376"/>
            <a:ext cx="36576" cy="4389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4818888" y="269748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Task 완료 버튼 클릭 시 발신자에게 완료 회신 메일을 자동으로 발송합니다.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20140" y="4140708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🧠  </a:t>
            </a:r>
            <a:r>
              <a:rPr lang="ko-KR" altLang="en-US" sz="12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생성형 </a:t>
            </a:r>
            <a:r>
              <a:rPr lang="en-US" altLang="ko-KR" sz="12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API</a:t>
            </a:r>
            <a:r>
              <a:rPr lang="ko-KR" altLang="en-US" sz="12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통한</a:t>
            </a:r>
            <a:r>
              <a:rPr lang="en-US" altLang="ko-KR" sz="12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2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</a:t>
            </a:r>
            <a:endParaRPr lang="en-US" sz="1250" dirty="0"/>
          </a:p>
        </p:txBody>
      </p:sp>
      <p:sp>
        <p:nvSpPr>
          <p:cNvPr id="46" name="Text 43">
            <a:extLst>
              <a:ext uri="{FF2B5EF4-FFF2-40B4-BE49-F238E27FC236}">
                <a16:creationId xmlns:a16="http://schemas.microsoft.com/office/drawing/2014/main" id="{0297A9E6-B781-366C-1A09-F9E050A18C0D}"/>
              </a:ext>
            </a:extLst>
          </p:cNvPr>
          <p:cNvSpPr/>
          <p:nvPr/>
        </p:nvSpPr>
        <p:spPr>
          <a:xfrm>
            <a:off x="4818888" y="411480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7" name="Text 36">
            <a:extLst>
              <a:ext uri="{FF2B5EF4-FFF2-40B4-BE49-F238E27FC236}">
                <a16:creationId xmlns:a16="http://schemas.microsoft.com/office/drawing/2014/main" id="{A2E9FDF4-5392-0B77-4ED7-77EB7356BAD7}"/>
              </a:ext>
            </a:extLst>
          </p:cNvPr>
          <p:cNvSpPr/>
          <p:nvPr/>
        </p:nvSpPr>
        <p:spPr>
          <a:xfrm>
            <a:off x="4782312" y="414528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생성형 </a:t>
            </a:r>
            <a:r>
              <a:rPr lang="en-US" altLang="ko-KR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API </a:t>
            </a:r>
            <a:r>
              <a:rPr lang="ko-KR" alt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연동을 통한 본문 및 </a:t>
            </a:r>
            <a:r>
              <a:rPr lang="en-US" altLang="ko-KR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PDF </a:t>
            </a:r>
            <a:r>
              <a:rPr lang="ko-KR" alt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요약기능 제공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347472" y="137160"/>
            <a:ext cx="566928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47472" y="137160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78992" y="54864"/>
            <a:ext cx="7818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Mail2Task</a:t>
            </a: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</a:t>
            </a: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구조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749808"/>
            <a:ext cx="9144000" cy="320040"/>
          </a:xfrm>
          <a:prstGeom prst="rect">
            <a:avLst/>
          </a:prstGeom>
          <a:solidFill>
            <a:srgbClr val="EBF5F8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0" y="749808"/>
            <a:ext cx="4572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01168" y="74980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 기능이 포함된 7단계 자동화 </a:t>
            </a:r>
            <a:r>
              <a:rPr lang="en-US" sz="1400" i="1" dirty="0" err="1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파이프라인</a:t>
            </a:r>
            <a:r>
              <a:rPr lang="en-US" sz="14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0" y="4873752"/>
            <a:ext cx="1554480" cy="201168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315200" y="487375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4  /  13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18388" y="1298448"/>
            <a:ext cx="1005840" cy="12618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818388" y="1389888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📧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18388" y="1956816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Gmail IMAP </a:t>
            </a:r>
          </a:p>
          <a:p>
            <a:pPr algn="ctr"/>
            <a:r>
              <a:rPr lang="ko-KR" alt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연결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64108" y="1325880"/>
            <a:ext cx="256032" cy="256032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64108" y="1325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4748B"/>
                </a:solidFill>
              </a:rPr>
              <a:t>1</a:t>
            </a:r>
            <a:endParaRPr lang="en-US" sz="800" dirty="0">
              <a:solidFill>
                <a:srgbClr val="64748B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824228" y="1892808"/>
            <a:ext cx="77724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901952" y="1298448"/>
            <a:ext cx="1005840" cy="12618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901952" y="1389888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📥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901952" y="1956816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수집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947672" y="1325880"/>
            <a:ext cx="256032" cy="256032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1947672" y="1325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4748B"/>
                </a:solidFill>
              </a:rPr>
              <a:t>2</a:t>
            </a:r>
            <a:endParaRPr lang="en-US" sz="800" dirty="0">
              <a:solidFill>
                <a:srgbClr val="64748B"/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907792" y="1892808"/>
            <a:ext cx="77724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2985516" y="1298448"/>
            <a:ext cx="1005840" cy="1261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2985516" y="1389888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📄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2985516" y="1956816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PDF </a:t>
            </a:r>
            <a:r>
              <a:rPr lang="ko-KR" alt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 </a:t>
            </a:r>
            <a:endParaRPr lang="en-US" altLang="ko-KR" sz="900" b="1" dirty="0">
              <a:solidFill>
                <a:srgbClr val="FFFFFF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algn="ctr"/>
            <a:r>
              <a:rPr lang="ko-KR" alt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031236" y="1325352"/>
            <a:ext cx="256032" cy="256032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rgbClr val="64748B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3031236" y="1325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4748B"/>
                </a:solidFill>
              </a:rPr>
              <a:t>3</a:t>
            </a:r>
            <a:endParaRPr lang="en-US" sz="800" dirty="0">
              <a:solidFill>
                <a:srgbClr val="64748B"/>
              </a:solidFill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991356" y="1892808"/>
            <a:ext cx="77724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4069080" y="1298448"/>
            <a:ext cx="1005840" cy="12618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4069080" y="1389888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4069080" y="1895856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Task </a:t>
            </a:r>
            <a:r>
              <a:rPr lang="ko-KR" alt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 </a:t>
            </a:r>
            <a:endParaRPr lang="en-US" altLang="ko-KR" sz="900" b="1" dirty="0">
              <a:solidFill>
                <a:srgbClr val="FFFFFF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114800" y="1325880"/>
            <a:ext cx="256032" cy="256032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4114800" y="1325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4748B"/>
                </a:solidFill>
              </a:rPr>
              <a:t>4</a:t>
            </a:r>
            <a:endParaRPr lang="en-US" sz="800" dirty="0">
              <a:solidFill>
                <a:srgbClr val="64748B"/>
              </a:solidFill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074920" y="1892808"/>
            <a:ext cx="77724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5152644" y="1298448"/>
            <a:ext cx="1005840" cy="126187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5152644" y="1389888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🗄️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5152644" y="1956816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MongoDB </a:t>
            </a:r>
            <a:r>
              <a:rPr lang="ko-KR" alt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</a:t>
            </a:r>
          </a:p>
          <a:p>
            <a:pPr algn="ctr"/>
            <a:r>
              <a:rPr lang="ko-KR" alt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및 </a:t>
            </a: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Task </a:t>
            </a:r>
            <a:r>
              <a:rPr lang="ko-KR" alt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198364" y="1325880"/>
            <a:ext cx="256032" cy="256032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 dirty="0">
              <a:solidFill>
                <a:srgbClr val="64748B"/>
              </a:solidFill>
            </a:endParaRPr>
          </a:p>
        </p:txBody>
      </p:sp>
      <p:sp>
        <p:nvSpPr>
          <p:cNvPr id="39" name="Text 37"/>
          <p:cNvSpPr/>
          <p:nvPr/>
        </p:nvSpPr>
        <p:spPr>
          <a:xfrm>
            <a:off x="5198364" y="1325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4748B"/>
                </a:solidFill>
              </a:rPr>
              <a:t>5</a:t>
            </a:r>
            <a:endParaRPr lang="en-US" sz="800" dirty="0">
              <a:solidFill>
                <a:srgbClr val="64748B"/>
              </a:solidFill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158484" y="1892808"/>
            <a:ext cx="77724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6236208" y="1298448"/>
            <a:ext cx="1005840" cy="1261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6236208" y="1389888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🖥️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6236208" y="1956816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FastAPI</a:t>
            </a: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기반</a:t>
            </a: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b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</a:b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</a:t>
            </a:r>
            <a:r>
              <a:rPr lang="en-US" sz="900" dirty="0"/>
              <a:t> </a:t>
            </a:r>
            <a:r>
              <a:rPr lang="en-US" sz="9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대시보드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281928" y="1325880"/>
            <a:ext cx="256032" cy="256032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rgbClr val="64748B"/>
              </a:solidFill>
            </a:endParaRPr>
          </a:p>
        </p:txBody>
      </p:sp>
      <p:sp>
        <p:nvSpPr>
          <p:cNvPr id="45" name="Text 43"/>
          <p:cNvSpPr/>
          <p:nvPr/>
        </p:nvSpPr>
        <p:spPr>
          <a:xfrm>
            <a:off x="6281928" y="1325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4748B"/>
                </a:solidFill>
              </a:rPr>
              <a:t>6</a:t>
            </a:r>
            <a:endParaRPr lang="en-US" sz="1050" dirty="0">
              <a:solidFill>
                <a:srgbClr val="64748B"/>
              </a:solidFill>
            </a:endParaRPr>
          </a:p>
        </p:txBody>
      </p:sp>
      <p:sp>
        <p:nvSpPr>
          <p:cNvPr id="46" name="Shape 44"/>
          <p:cNvSpPr/>
          <p:nvPr/>
        </p:nvSpPr>
        <p:spPr>
          <a:xfrm>
            <a:off x="7242048" y="1892808"/>
            <a:ext cx="77724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7319772" y="1298448"/>
            <a:ext cx="1005840" cy="12618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7319772" y="1389888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📬</a:t>
            </a:r>
            <a:endParaRPr lang="en-US" sz="2400" dirty="0"/>
          </a:p>
        </p:txBody>
      </p:sp>
      <p:sp>
        <p:nvSpPr>
          <p:cNvPr id="49" name="Text 47"/>
          <p:cNvSpPr/>
          <p:nvPr/>
        </p:nvSpPr>
        <p:spPr>
          <a:xfrm>
            <a:off x="7319772" y="1956816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 메일</a:t>
            </a:r>
          </a:p>
          <a:p>
            <a:pPr algn="ctr"/>
            <a:r>
              <a:rPr lang="ko-KR" alt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회신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365492" y="1325880"/>
            <a:ext cx="256032" cy="256032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7365492" y="1325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4748B"/>
                </a:solidFill>
              </a:rPr>
              <a:t>7</a:t>
            </a:r>
            <a:endParaRPr lang="en-US" sz="1050" dirty="0">
              <a:solidFill>
                <a:srgbClr val="64748B"/>
              </a:solidFill>
            </a:endParaRPr>
          </a:p>
        </p:txBody>
      </p:sp>
      <p:sp>
        <p:nvSpPr>
          <p:cNvPr id="52" name="Shape 50"/>
          <p:cNvSpPr/>
          <p:nvPr/>
        </p:nvSpPr>
        <p:spPr>
          <a:xfrm>
            <a:off x="411480" y="2834640"/>
            <a:ext cx="8321040" cy="1463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411480" y="2834640"/>
            <a:ext cx="45720" cy="1463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2"/>
          <p:cNvSpPr/>
          <p:nvPr/>
        </p:nvSpPr>
        <p:spPr>
          <a:xfrm>
            <a:off x="594360" y="2971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수집  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94360" y="3248936"/>
            <a:ext cx="18745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rgbClr val="D1D5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Gmail IMAP </a:t>
            </a:r>
            <a:r>
              <a:rPr lang="ko-KR" altLang="en-US" sz="1000" dirty="0">
                <a:solidFill>
                  <a:srgbClr val="D1D5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기반으로 업무 메일과 첨부파일을 자동 수집합니다</a:t>
            </a:r>
            <a:r>
              <a:rPr lang="en-US" altLang="ko-KR" sz="1000" dirty="0">
                <a:solidFill>
                  <a:srgbClr val="D1D5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2606040" y="2971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추천/분석  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2606040" y="3248936"/>
            <a:ext cx="18745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D1D5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 본문과 첨부 문서를 분석하여</a:t>
            </a: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D1D5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</a:t>
            </a:r>
            <a:r>
              <a:rPr lang="en-US" altLang="ko-KR" sz="1000" dirty="0">
                <a:solidFill>
                  <a:srgbClr val="D1D5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(Task), </a:t>
            </a:r>
            <a:r>
              <a:rPr lang="ko-KR" altLang="en-US" sz="1000" dirty="0">
                <a:solidFill>
                  <a:srgbClr val="D1D5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마감일</a:t>
            </a:r>
            <a:r>
              <a:rPr lang="en-US" altLang="ko-KR" sz="1000" dirty="0">
                <a:solidFill>
                  <a:srgbClr val="D1D5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</a:t>
            </a:r>
            <a:r>
              <a:rPr lang="ko-KR" altLang="en-US" sz="1000" dirty="0">
                <a:solidFill>
                  <a:srgbClr val="D1D5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우선순위를 자동 추출합니다</a:t>
            </a:r>
            <a:r>
              <a:rPr lang="en-US" altLang="ko-KR" sz="1000" dirty="0">
                <a:solidFill>
                  <a:srgbClr val="D1D5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617720" y="2971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저장·제공  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4617720" y="3248936"/>
            <a:ext cx="18745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D1D5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추출된 </a:t>
            </a:r>
            <a:r>
              <a:rPr lang="en-US" altLang="ko-KR" sz="1000" dirty="0">
                <a:solidFill>
                  <a:srgbClr val="D1D5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Task</a:t>
            </a:r>
            <a:r>
              <a:rPr lang="ko-KR" altLang="en-US" sz="1000" dirty="0">
                <a:solidFill>
                  <a:srgbClr val="D1D5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</a:t>
            </a:r>
            <a:r>
              <a:rPr lang="en-US" altLang="ko-KR" sz="1000" dirty="0">
                <a:solidFill>
                  <a:srgbClr val="D1D5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MongoDB</a:t>
            </a:r>
            <a:r>
              <a:rPr lang="ko-KR" altLang="en-US" sz="1000" dirty="0">
                <a:solidFill>
                  <a:srgbClr val="D1D5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 저장하고</a:t>
            </a:r>
          </a:p>
          <a:p>
            <a:pPr>
              <a:lnSpc>
                <a:spcPct val="150000"/>
              </a:lnSpc>
            </a:pPr>
            <a:r>
              <a:rPr lang="en-US" altLang="ko-KR" sz="1000" dirty="0" err="1">
                <a:solidFill>
                  <a:srgbClr val="D1D5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FastAPI</a:t>
            </a:r>
            <a:r>
              <a:rPr lang="en-US" altLang="ko-KR" sz="1000" dirty="0">
                <a:solidFill>
                  <a:srgbClr val="D1D5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000" dirty="0">
                <a:solidFill>
                  <a:srgbClr val="D1D5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기반 웹서버에서 대시보드 기능을 제공합니다</a:t>
            </a:r>
            <a:r>
              <a:rPr lang="en-US" altLang="ko-KR" sz="1000" dirty="0">
                <a:solidFill>
                  <a:srgbClr val="D1D5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629400" y="2971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  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6629400" y="3248936"/>
            <a:ext cx="18745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Task 완료 처리 시 </a:t>
            </a:r>
            <a:br>
              <a:rPr lang="en-US" sz="1000" dirty="0">
                <a:solidFill>
                  <a:srgbClr val="D1D5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</a:br>
            <a:r>
              <a:rPr lang="en-US" sz="1000" dirty="0" err="1">
                <a:solidFill>
                  <a:srgbClr val="D1D5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발신자에게</a:t>
            </a:r>
            <a:r>
              <a:rPr lang="en-US" sz="1000" dirty="0">
                <a:solidFill>
                  <a:srgbClr val="D1D5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회신 </a:t>
            </a:r>
            <a:r>
              <a:rPr lang="en-US" sz="1000" dirty="0" err="1">
                <a:solidFill>
                  <a:srgbClr val="D1D5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메일을</a:t>
            </a:r>
            <a:r>
              <a:rPr lang="en-US" sz="1000" dirty="0">
                <a:solidFill>
                  <a:srgbClr val="D1D5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br>
              <a:rPr lang="en-US" sz="1000" dirty="0">
                <a:solidFill>
                  <a:srgbClr val="D1D5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</a:br>
            <a:r>
              <a:rPr lang="en-US" sz="1000" dirty="0" err="1">
                <a:solidFill>
                  <a:srgbClr val="D1D5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</a:t>
            </a:r>
            <a:r>
              <a:rPr lang="en-US" sz="1000" dirty="0">
                <a:solidFill>
                  <a:srgbClr val="D1D5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발송합니다.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347472" y="137160"/>
            <a:ext cx="566928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47472" y="137160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78992" y="54864"/>
            <a:ext cx="7818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Mail2Task</a:t>
            </a: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 기존 메일 시스템과 </a:t>
            </a:r>
            <a:r>
              <a:rPr lang="ko-KR" altLang="en-US" sz="24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차별점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0" y="749808"/>
            <a:ext cx="9144000" cy="320040"/>
          </a:xfrm>
          <a:prstGeom prst="rect">
            <a:avLst/>
          </a:prstGeom>
          <a:solidFill>
            <a:srgbClr val="EBF5F8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0" y="749808"/>
            <a:ext cx="4572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01168" y="74980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Mail2Task가 </a:t>
            </a:r>
            <a:r>
              <a:rPr lang="en-US" sz="1400" i="1" dirty="0" err="1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</a:t>
            </a:r>
            <a:r>
              <a:rPr lang="en-US" sz="14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400" i="1" dirty="0" err="1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방식과</a:t>
            </a:r>
            <a:r>
              <a:rPr lang="en-US" sz="14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400" i="1" dirty="0" err="1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</a:t>
            </a:r>
            <a:r>
              <a:rPr lang="en-US" sz="14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4가지 </a:t>
            </a:r>
            <a:r>
              <a:rPr lang="en-US" sz="1400" i="1" dirty="0" err="1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차별점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0" y="4873752"/>
            <a:ext cx="1554480" cy="201168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315200" y="487375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5  /  13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161288"/>
            <a:ext cx="3749040" cy="45720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65760" y="116128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❌  기존 방식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029200" y="1161288"/>
            <a:ext cx="374904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029200" y="116128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 Mail2Task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365760" y="1737360"/>
            <a:ext cx="3749040" cy="6400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02920" y="173736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메일을 그대로 나열해서 보여줌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29200" y="1737360"/>
            <a:ext cx="3749040" cy="640080"/>
          </a:xfrm>
          <a:prstGeom prst="rect">
            <a:avLst/>
          </a:prstGeom>
          <a:solidFill>
            <a:srgbClr val="F0FDFA"/>
          </a:solidFill>
          <a:ln w="635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166360" y="173736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  메일에서 업무 Task를 자동 추출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65760" y="2468880"/>
            <a:ext cx="37490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02920" y="246888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</a:t>
            </a:r>
            <a:r>
              <a:rPr lang="en-US" sz="1400" dirty="0" err="1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과거</a:t>
            </a:r>
            <a:r>
              <a:rPr lang="ko-KR" altLang="en-US" sz="14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</a:t>
            </a:r>
            <a:r>
              <a:rPr lang="en-US" sz="14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4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</a:t>
            </a:r>
            <a:r>
              <a:rPr lang="en-US" sz="14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문서를 직접 찾아야 함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029200" y="2468880"/>
            <a:ext cx="3749040" cy="640080"/>
          </a:xfrm>
          <a:prstGeom prst="rect">
            <a:avLst/>
          </a:prstGeom>
          <a:solidFill>
            <a:srgbClr val="E6FAF8"/>
          </a:solidFill>
          <a:ln w="635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5166360" y="246888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  </a:t>
            </a:r>
            <a:r>
              <a:rPr lang="ko-KR" alt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본문 및 첨부파일</a:t>
            </a:r>
            <a:r>
              <a:rPr 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연관 PDF 자동 추천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65760" y="3200400"/>
            <a:ext cx="3749040" cy="6400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502920" y="320040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</a:t>
            </a:r>
            <a:r>
              <a:rPr lang="ko-KR" altLang="en-US" sz="14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 내용을 직접 읽고 정리해야 함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029200" y="3200400"/>
            <a:ext cx="3749040" cy="640080"/>
          </a:xfrm>
          <a:prstGeom prst="rect">
            <a:avLst/>
          </a:prstGeom>
          <a:solidFill>
            <a:srgbClr val="F0FDFA"/>
          </a:solidFill>
          <a:ln w="635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5166360" y="320040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  </a:t>
            </a:r>
            <a:r>
              <a:rPr lang="en-US" altLang="ko-KR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</a:t>
            </a:r>
            <a:r>
              <a:rPr lang="ko-KR" alt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기반 메일 요약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65760" y="3931920"/>
            <a:ext cx="37490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502920" y="393192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완료 후 회신 메일을 별도로 작성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029200" y="3931920"/>
            <a:ext cx="3749040" cy="640080"/>
          </a:xfrm>
          <a:prstGeom prst="rect">
            <a:avLst/>
          </a:prstGeom>
          <a:solidFill>
            <a:srgbClr val="E6FAF8"/>
          </a:solidFill>
          <a:ln w="635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5166360" y="393192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  </a:t>
            </a:r>
            <a:r>
              <a:rPr lang="ko-KR" alt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</a:t>
            </a:r>
            <a:r>
              <a:rPr lang="en-US" sz="1400" b="1" dirty="0" err="1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</a:t>
            </a:r>
            <a:r>
              <a:rPr 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처리 시 회신 </a:t>
            </a:r>
            <a:r>
              <a:rPr lang="en-US" sz="1400" b="1" dirty="0" err="1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</a:t>
            </a:r>
            <a:r>
              <a:rPr 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400" b="1" dirty="0" err="1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</a:t>
            </a:r>
            <a:r>
              <a:rPr 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400" b="1" dirty="0" err="1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발송</a:t>
            </a:r>
            <a:endParaRPr lang="en-US" sz="1400" dirty="0"/>
          </a:p>
        </p:txBody>
      </p:sp>
      <p:sp>
        <p:nvSpPr>
          <p:cNvPr id="41" name="화살표: 오른쪽 40">
            <a:extLst>
              <a:ext uri="{FF2B5EF4-FFF2-40B4-BE49-F238E27FC236}">
                <a16:creationId xmlns:a16="http://schemas.microsoft.com/office/drawing/2014/main" id="{915A6C45-8544-1215-824A-D3EC8AD65268}"/>
              </a:ext>
            </a:extLst>
          </p:cNvPr>
          <p:cNvSpPr/>
          <p:nvPr/>
        </p:nvSpPr>
        <p:spPr>
          <a:xfrm>
            <a:off x="4114800" y="1952244"/>
            <a:ext cx="914400" cy="182880"/>
          </a:xfrm>
          <a:prstGeom prst="rightArrow">
            <a:avLst>
              <a:gd name="adj1" fmla="val 50000"/>
              <a:gd name="adj2" fmla="val 77431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화살표: 오른쪽 41">
            <a:extLst>
              <a:ext uri="{FF2B5EF4-FFF2-40B4-BE49-F238E27FC236}">
                <a16:creationId xmlns:a16="http://schemas.microsoft.com/office/drawing/2014/main" id="{6D54DF2E-7546-7614-B7C7-1E06267B257B}"/>
              </a:ext>
            </a:extLst>
          </p:cNvPr>
          <p:cNvSpPr/>
          <p:nvPr/>
        </p:nvSpPr>
        <p:spPr>
          <a:xfrm>
            <a:off x="4114800" y="2697480"/>
            <a:ext cx="914400" cy="182880"/>
          </a:xfrm>
          <a:prstGeom prst="rightArrow">
            <a:avLst>
              <a:gd name="adj1" fmla="val 50000"/>
              <a:gd name="adj2" fmla="val 77431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화살표: 오른쪽 42">
            <a:extLst>
              <a:ext uri="{FF2B5EF4-FFF2-40B4-BE49-F238E27FC236}">
                <a16:creationId xmlns:a16="http://schemas.microsoft.com/office/drawing/2014/main" id="{8DD71768-DAE9-A2BE-6B2E-9FBE856739B2}"/>
              </a:ext>
            </a:extLst>
          </p:cNvPr>
          <p:cNvSpPr/>
          <p:nvPr/>
        </p:nvSpPr>
        <p:spPr>
          <a:xfrm>
            <a:off x="4114800" y="3451860"/>
            <a:ext cx="914400" cy="182880"/>
          </a:xfrm>
          <a:prstGeom prst="rightArrow">
            <a:avLst>
              <a:gd name="adj1" fmla="val 50000"/>
              <a:gd name="adj2" fmla="val 77431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화살표: 오른쪽 43">
            <a:extLst>
              <a:ext uri="{FF2B5EF4-FFF2-40B4-BE49-F238E27FC236}">
                <a16:creationId xmlns:a16="http://schemas.microsoft.com/office/drawing/2014/main" id="{F71C05CC-EC07-9F59-4FD4-6B2F70ECFE73}"/>
              </a:ext>
            </a:extLst>
          </p:cNvPr>
          <p:cNvSpPr/>
          <p:nvPr/>
        </p:nvSpPr>
        <p:spPr>
          <a:xfrm>
            <a:off x="4114800" y="4190492"/>
            <a:ext cx="914400" cy="182880"/>
          </a:xfrm>
          <a:prstGeom prst="rightArrow">
            <a:avLst>
              <a:gd name="adj1" fmla="val 50000"/>
              <a:gd name="adj2" fmla="val 77431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58AB1-0AEB-BAEB-A92D-BA178C9AC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AC32322-DF9A-215F-786D-83D4ABD0F660}"/>
              </a:ext>
            </a:extLst>
          </p:cNvPr>
          <p:cNvSpPr/>
          <p:nvPr/>
        </p:nvSpPr>
        <p:spPr>
          <a:xfrm>
            <a:off x="-30773" y="-24703"/>
            <a:ext cx="9203348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8F52DAA-7BCE-636E-D6A2-D4DD970DF1ED}"/>
              </a:ext>
            </a:extLst>
          </p:cNvPr>
          <p:cNvSpPr/>
          <p:nvPr/>
        </p:nvSpPr>
        <p:spPr>
          <a:xfrm>
            <a:off x="347472" y="137160"/>
            <a:ext cx="566928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C070328-AFB3-9C7B-895E-FCD64C618328}"/>
              </a:ext>
            </a:extLst>
          </p:cNvPr>
          <p:cNvSpPr/>
          <p:nvPr/>
        </p:nvSpPr>
        <p:spPr>
          <a:xfrm>
            <a:off x="347472" y="137160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5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2945E6B-35D9-4583-5F5F-1DE36635BB43}"/>
              </a:ext>
            </a:extLst>
          </p:cNvPr>
          <p:cNvSpPr/>
          <p:nvPr/>
        </p:nvSpPr>
        <p:spPr>
          <a:xfrm>
            <a:off x="1078992" y="54864"/>
            <a:ext cx="7818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Mail2Task</a:t>
            </a: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 실제 화면 구성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20BCB1F-A55E-D785-205B-58F274C13592}"/>
              </a:ext>
            </a:extLst>
          </p:cNvPr>
          <p:cNvSpPr/>
          <p:nvPr/>
        </p:nvSpPr>
        <p:spPr>
          <a:xfrm>
            <a:off x="0" y="749808"/>
            <a:ext cx="9144000" cy="320040"/>
          </a:xfrm>
          <a:prstGeom prst="rect">
            <a:avLst/>
          </a:prstGeom>
          <a:solidFill>
            <a:srgbClr val="EBF5F8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r>
              <a:rPr lang="ko-KR" altLang="en-US" sz="14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</a:t>
            </a:r>
            <a:r>
              <a:rPr lang="en-US" altLang="ko-KR" sz="14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6-1) </a:t>
            </a:r>
            <a:r>
              <a:rPr lang="ko-KR" altLang="en-US" sz="14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메일에서 추출된 업무를 </a:t>
            </a:r>
            <a:r>
              <a:rPr lang="en-US" altLang="ko-KR" sz="14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To-do </a:t>
            </a:r>
            <a:r>
              <a:rPr lang="ko-KR" altLang="en-US" sz="14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리스트로</a:t>
            </a:r>
            <a:r>
              <a:rPr lang="en-US" altLang="ko-KR" sz="14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4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한눈에 관리</a:t>
            </a:r>
            <a:endParaRPr lang="ko-KR" altLang="en-US" sz="14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1ABBEE8-16B9-E8B3-4538-B7BE28BD481C}"/>
              </a:ext>
            </a:extLst>
          </p:cNvPr>
          <p:cNvSpPr/>
          <p:nvPr/>
        </p:nvSpPr>
        <p:spPr>
          <a:xfrm>
            <a:off x="0" y="749808"/>
            <a:ext cx="4572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D3A9712-05F4-2E5E-9786-BC68EA44B133}"/>
              </a:ext>
            </a:extLst>
          </p:cNvPr>
          <p:cNvSpPr/>
          <p:nvPr/>
        </p:nvSpPr>
        <p:spPr>
          <a:xfrm>
            <a:off x="201168" y="74980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1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D0295EA-F18E-12A4-9015-09ED110E5C90}"/>
              </a:ext>
            </a:extLst>
          </p:cNvPr>
          <p:cNvSpPr/>
          <p:nvPr/>
        </p:nvSpPr>
        <p:spPr>
          <a:xfrm>
            <a:off x="7315200" y="487375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6  /  13</a:t>
            </a:r>
            <a:endParaRPr lang="en-US" sz="10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CB2AC31C-54DA-797C-3583-B8BF60EC81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8" y="1146418"/>
            <a:ext cx="5834283" cy="3997082"/>
          </a:xfrm>
          <a:prstGeom prst="rect">
            <a:avLst/>
          </a:prstGeom>
        </p:spPr>
      </p:pic>
      <p:sp>
        <p:nvSpPr>
          <p:cNvPr id="14" name="Shape 15">
            <a:extLst>
              <a:ext uri="{FF2B5EF4-FFF2-40B4-BE49-F238E27FC236}">
                <a16:creationId xmlns:a16="http://schemas.microsoft.com/office/drawing/2014/main" id="{4674767D-C3B0-9B33-5FCB-F62CEC031877}"/>
              </a:ext>
            </a:extLst>
          </p:cNvPr>
          <p:cNvSpPr/>
          <p:nvPr/>
        </p:nvSpPr>
        <p:spPr>
          <a:xfrm>
            <a:off x="5798820" y="1915668"/>
            <a:ext cx="3444240" cy="928116"/>
          </a:xfrm>
          <a:prstGeom prst="rect">
            <a:avLst/>
          </a:prstGeom>
          <a:noFill/>
          <a:ln w="6350">
            <a:noFill/>
            <a:prstDash val="solid"/>
          </a:ln>
        </p:spPr>
        <p:txBody>
          <a:bodyPr anchor="ctr"/>
          <a:lstStyle/>
          <a:p>
            <a:pPr algn="ctr"/>
            <a:endParaRPr lang="ko-KR" altLang="en-US" sz="1400" dirty="0">
              <a:ln w="0"/>
              <a:solidFill>
                <a:schemeClr val="bg2">
                  <a:lumMod val="25000"/>
                </a:schemeClr>
              </a:solidFill>
              <a:latin typeface="+mj-ea"/>
            </a:endParaRP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435EFEDF-EB19-C4E7-28F5-79C71E9D7967}"/>
              </a:ext>
            </a:extLst>
          </p:cNvPr>
          <p:cNvSpPr/>
          <p:nvPr/>
        </p:nvSpPr>
        <p:spPr>
          <a:xfrm>
            <a:off x="6401005" y="1620774"/>
            <a:ext cx="2377440" cy="928116"/>
          </a:xfrm>
          <a:prstGeom prst="rect">
            <a:avLst/>
          </a:prstGeom>
          <a:solidFill>
            <a:srgbClr val="F8FAFC"/>
          </a:solidFill>
          <a:ln w="6350">
            <a:solidFill>
              <a:schemeClr val="bg2">
                <a:lumMod val="50000"/>
              </a:schemeClr>
            </a:solidFill>
            <a:prstDash val="solid"/>
          </a:ln>
        </p:spPr>
        <p:txBody>
          <a:bodyPr anchor="ctr"/>
          <a:lstStyle/>
          <a:p>
            <a:pPr algn="ctr"/>
            <a:r>
              <a:rPr lang="ko-KR" altLang="en-US" sz="1400" dirty="0">
                <a:ln w="0"/>
                <a:solidFill>
                  <a:schemeClr val="bg2">
                    <a:lumMod val="25000"/>
                  </a:schemeClr>
                </a:solidFill>
                <a:latin typeface="+mj-ea"/>
              </a:rPr>
              <a:t>여러 메일 중 </a:t>
            </a:r>
            <a:r>
              <a:rPr lang="en-US" altLang="ko-KR" sz="1400" dirty="0">
                <a:ln w="0"/>
                <a:solidFill>
                  <a:schemeClr val="bg2">
                    <a:lumMod val="25000"/>
                  </a:schemeClr>
                </a:solidFill>
                <a:latin typeface="+mj-ea"/>
              </a:rPr>
              <a:t>TO-DO </a:t>
            </a:r>
            <a:r>
              <a:rPr lang="ko-KR" altLang="en-US" sz="1400" dirty="0">
                <a:ln w="0"/>
                <a:solidFill>
                  <a:schemeClr val="bg2">
                    <a:lumMod val="25000"/>
                  </a:schemeClr>
                </a:solidFill>
                <a:latin typeface="+mj-ea"/>
              </a:rPr>
              <a:t>가 </a:t>
            </a:r>
            <a:br>
              <a:rPr lang="en-US" altLang="ko-KR" sz="1400" dirty="0">
                <a:ln w="0"/>
                <a:solidFill>
                  <a:schemeClr val="bg2">
                    <a:lumMod val="25000"/>
                  </a:schemeClr>
                </a:solidFill>
                <a:latin typeface="+mj-ea"/>
              </a:rPr>
            </a:br>
            <a:r>
              <a:rPr lang="ko-KR" altLang="en-US" sz="1400" dirty="0">
                <a:ln w="0"/>
                <a:solidFill>
                  <a:schemeClr val="bg2">
                    <a:lumMod val="25000"/>
                  </a:schemeClr>
                </a:solidFill>
                <a:latin typeface="+mj-ea"/>
              </a:rPr>
              <a:t>포함된 메일만 나타남</a:t>
            </a:r>
          </a:p>
        </p:txBody>
      </p:sp>
      <p:sp>
        <p:nvSpPr>
          <p:cNvPr id="16" name="Shape 15">
            <a:extLst>
              <a:ext uri="{FF2B5EF4-FFF2-40B4-BE49-F238E27FC236}">
                <a16:creationId xmlns:a16="http://schemas.microsoft.com/office/drawing/2014/main" id="{DF3EE525-092C-6FCF-56A7-88FA8B275337}"/>
              </a:ext>
            </a:extLst>
          </p:cNvPr>
          <p:cNvSpPr/>
          <p:nvPr/>
        </p:nvSpPr>
        <p:spPr>
          <a:xfrm>
            <a:off x="6401005" y="2926080"/>
            <a:ext cx="2377440" cy="1293876"/>
          </a:xfrm>
          <a:prstGeom prst="rect">
            <a:avLst/>
          </a:prstGeom>
          <a:solidFill>
            <a:srgbClr val="F8FAFC"/>
          </a:solidFill>
          <a:ln w="6350">
            <a:solidFill>
              <a:schemeClr val="bg2">
                <a:lumMod val="50000"/>
              </a:schemeClr>
            </a:solidFill>
            <a:prstDash val="solid"/>
          </a:ln>
        </p:spPr>
        <p:txBody>
          <a:bodyPr anchor="ctr"/>
          <a:lstStyle/>
          <a:p>
            <a:pPr algn="ctr"/>
            <a:r>
              <a:rPr lang="ko-KR" altLang="en-US" sz="1400" dirty="0">
                <a:ln w="0"/>
                <a:solidFill>
                  <a:schemeClr val="bg2">
                    <a:lumMod val="25000"/>
                  </a:schemeClr>
                </a:solidFill>
                <a:latin typeface="+mj-ea"/>
              </a:rPr>
              <a:t>본문내용을 파싱 후</a:t>
            </a:r>
            <a:endParaRPr lang="en-US" altLang="ko-KR" sz="1400" dirty="0">
              <a:ln w="0"/>
              <a:solidFill>
                <a:schemeClr val="bg2">
                  <a:lumMod val="25000"/>
                </a:schemeClr>
              </a:solidFill>
              <a:latin typeface="+mj-ea"/>
            </a:endParaRPr>
          </a:p>
          <a:p>
            <a:pPr algn="ctr"/>
            <a:r>
              <a:rPr lang="ko-KR" altLang="en-US" sz="1400" dirty="0">
                <a:ln w="0"/>
                <a:solidFill>
                  <a:schemeClr val="bg2">
                    <a:lumMod val="25000"/>
                  </a:schemeClr>
                </a:solidFill>
                <a:latin typeface="+mj-ea"/>
              </a:rPr>
              <a:t>정해진 키워드에 따라</a:t>
            </a:r>
            <a:endParaRPr lang="en-US" altLang="ko-KR" sz="1400" dirty="0">
              <a:ln w="0"/>
              <a:solidFill>
                <a:schemeClr val="bg2">
                  <a:lumMod val="25000"/>
                </a:schemeClr>
              </a:solidFill>
              <a:latin typeface="+mj-ea"/>
            </a:endParaRPr>
          </a:p>
          <a:p>
            <a:pPr algn="ctr"/>
            <a:r>
              <a:rPr lang="ko-KR" altLang="en-US" sz="1400" dirty="0">
                <a:ln w="0"/>
                <a:solidFill>
                  <a:schemeClr val="bg2">
                    <a:lumMod val="25000"/>
                  </a:schemeClr>
                </a:solidFill>
                <a:latin typeface="+mj-ea"/>
              </a:rPr>
              <a:t>가산점을 부여하여 </a:t>
            </a:r>
            <a:r>
              <a:rPr lang="ko-KR" altLang="en-US" sz="1400" dirty="0" err="1">
                <a:ln w="0"/>
                <a:solidFill>
                  <a:schemeClr val="bg2">
                    <a:lumMod val="25000"/>
                  </a:schemeClr>
                </a:solidFill>
                <a:latin typeface="+mj-ea"/>
              </a:rPr>
              <a:t>긴급도판단</a:t>
            </a:r>
            <a:endParaRPr lang="ko-KR" altLang="en-US" sz="1400" dirty="0">
              <a:ln w="0"/>
              <a:solidFill>
                <a:schemeClr val="bg2">
                  <a:lumMod val="25000"/>
                </a:schemeClr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642168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214DF-CA33-AEC6-AAF7-8C225CE66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F886B56-466E-CA81-F2A6-ECC001B44369}"/>
              </a:ext>
            </a:extLst>
          </p:cNvPr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F4E39F3-D3AC-F53D-0EEF-3583885E020D}"/>
              </a:ext>
            </a:extLst>
          </p:cNvPr>
          <p:cNvSpPr/>
          <p:nvPr/>
        </p:nvSpPr>
        <p:spPr>
          <a:xfrm>
            <a:off x="347472" y="137160"/>
            <a:ext cx="566928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48907B2-A134-934C-DF69-AB227C0BAECB}"/>
              </a:ext>
            </a:extLst>
          </p:cNvPr>
          <p:cNvSpPr/>
          <p:nvPr/>
        </p:nvSpPr>
        <p:spPr>
          <a:xfrm>
            <a:off x="347472" y="137160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5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A9FD586-2481-9777-79BE-5E1B70178F5A}"/>
              </a:ext>
            </a:extLst>
          </p:cNvPr>
          <p:cNvSpPr/>
          <p:nvPr/>
        </p:nvSpPr>
        <p:spPr>
          <a:xfrm>
            <a:off x="1078992" y="54864"/>
            <a:ext cx="7818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Mail2Task</a:t>
            </a: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 실제 화면 구성</a:t>
            </a:r>
            <a:endParaRPr lang="en-US" sz="24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4F9440B-209F-AB92-C6E1-8E02B27B862F}"/>
              </a:ext>
            </a:extLst>
          </p:cNvPr>
          <p:cNvSpPr/>
          <p:nvPr/>
        </p:nvSpPr>
        <p:spPr>
          <a:xfrm>
            <a:off x="0" y="749808"/>
            <a:ext cx="9144000" cy="320040"/>
          </a:xfrm>
          <a:prstGeom prst="rect">
            <a:avLst/>
          </a:prstGeom>
          <a:solidFill>
            <a:srgbClr val="EBF5F8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856BE6D-8E77-B31C-742D-2FA67CCD1F31}"/>
              </a:ext>
            </a:extLst>
          </p:cNvPr>
          <p:cNvSpPr/>
          <p:nvPr/>
        </p:nvSpPr>
        <p:spPr>
          <a:xfrm>
            <a:off x="0" y="749808"/>
            <a:ext cx="4572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F16D9E9-5121-F0E9-EFFF-957E17B16E4F}"/>
              </a:ext>
            </a:extLst>
          </p:cNvPr>
          <p:cNvSpPr/>
          <p:nvPr/>
        </p:nvSpPr>
        <p:spPr>
          <a:xfrm>
            <a:off x="201168" y="74980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4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6-2) Gmail IMAP </a:t>
            </a:r>
            <a:r>
              <a:rPr lang="ko-KR" altLang="en-US" sz="14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기반 메일 자동 수집 설정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C8FDECF8-CCAA-D8EE-3B08-007A81E8CA4D}"/>
              </a:ext>
            </a:extLst>
          </p:cNvPr>
          <p:cNvSpPr/>
          <p:nvPr/>
        </p:nvSpPr>
        <p:spPr>
          <a:xfrm>
            <a:off x="7315200" y="4873752"/>
            <a:ext cx="1554480" cy="201168"/>
          </a:xfrm>
          <a:prstGeom prst="rect">
            <a:avLst/>
          </a:prstGeom>
          <a:noFill/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F7B502C-79BE-23A7-A30C-995998C12C18}"/>
              </a:ext>
            </a:extLst>
          </p:cNvPr>
          <p:cNvSpPr/>
          <p:nvPr/>
        </p:nvSpPr>
        <p:spPr>
          <a:xfrm>
            <a:off x="7315200" y="4873752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7  /  13</a:t>
            </a:r>
            <a:endParaRPr lang="en-US" sz="10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65F861A4-D5AF-7CF5-BD94-4DE3312674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31" y="1428815"/>
            <a:ext cx="8976337" cy="2336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7540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1040E-D209-79F9-3D50-6E7A397C1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F4CED0A-B0D6-F659-1B48-792FEEA9851F}"/>
              </a:ext>
            </a:extLst>
          </p:cNvPr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AE4A402-8281-CFFB-08AE-CA41BF000E4C}"/>
              </a:ext>
            </a:extLst>
          </p:cNvPr>
          <p:cNvSpPr/>
          <p:nvPr/>
        </p:nvSpPr>
        <p:spPr>
          <a:xfrm>
            <a:off x="347472" y="137160"/>
            <a:ext cx="566928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A4CA602-1A79-4D6E-5C06-DDE1B6F351F4}"/>
              </a:ext>
            </a:extLst>
          </p:cNvPr>
          <p:cNvSpPr/>
          <p:nvPr/>
        </p:nvSpPr>
        <p:spPr>
          <a:xfrm>
            <a:off x="347472" y="137160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5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AB8A91F-5440-3637-32C1-2F995F0F07C7}"/>
              </a:ext>
            </a:extLst>
          </p:cNvPr>
          <p:cNvSpPr/>
          <p:nvPr/>
        </p:nvSpPr>
        <p:spPr>
          <a:xfrm>
            <a:off x="1078992" y="54864"/>
            <a:ext cx="7818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Mail2Task</a:t>
            </a: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 실제 화면 구성</a:t>
            </a:r>
            <a:endParaRPr lang="en-US" sz="24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C20AFF8-A1DF-5867-635C-641884D26C7A}"/>
              </a:ext>
            </a:extLst>
          </p:cNvPr>
          <p:cNvSpPr/>
          <p:nvPr/>
        </p:nvSpPr>
        <p:spPr>
          <a:xfrm>
            <a:off x="0" y="749808"/>
            <a:ext cx="9144000" cy="320040"/>
          </a:xfrm>
          <a:prstGeom prst="rect">
            <a:avLst/>
          </a:prstGeom>
          <a:solidFill>
            <a:srgbClr val="EBF5F8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2E5656D-9CEF-28D5-F631-1A5582C521B1}"/>
              </a:ext>
            </a:extLst>
          </p:cNvPr>
          <p:cNvSpPr/>
          <p:nvPr/>
        </p:nvSpPr>
        <p:spPr>
          <a:xfrm>
            <a:off x="0" y="749808"/>
            <a:ext cx="4572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FE80005-1B8E-65AE-14C8-F2A8635D96D1}"/>
              </a:ext>
            </a:extLst>
          </p:cNvPr>
          <p:cNvSpPr/>
          <p:nvPr/>
        </p:nvSpPr>
        <p:spPr>
          <a:xfrm>
            <a:off x="201168" y="74980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4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6-3) </a:t>
            </a:r>
            <a:r>
              <a:rPr lang="ko-KR" altLang="en-US" sz="14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본문 내용에서 </a:t>
            </a:r>
            <a:r>
              <a:rPr lang="en-US" altLang="ko-KR" sz="14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TO-DO </a:t>
            </a:r>
            <a:r>
              <a:rPr lang="ko-KR" altLang="en-US" sz="14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목록 정리 및 </a:t>
            </a:r>
            <a:r>
              <a:rPr lang="en-US" altLang="ko-KR" sz="14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API </a:t>
            </a:r>
            <a:r>
              <a:rPr lang="ko-KR" altLang="en-US" sz="14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기반 내용 요약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763B0E4A-E7C8-3586-39E2-A9B6D46CC1F1}"/>
              </a:ext>
            </a:extLst>
          </p:cNvPr>
          <p:cNvSpPr/>
          <p:nvPr/>
        </p:nvSpPr>
        <p:spPr>
          <a:xfrm>
            <a:off x="7315200" y="4873752"/>
            <a:ext cx="1554480" cy="201168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848FCEC-6A35-A23A-2779-75D7D5420B0C}"/>
              </a:ext>
            </a:extLst>
          </p:cNvPr>
          <p:cNvSpPr/>
          <p:nvPr/>
        </p:nvSpPr>
        <p:spPr>
          <a:xfrm>
            <a:off x="7315200" y="487375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8  /  13</a:t>
            </a:r>
            <a:endParaRPr lang="en-US" sz="1000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DE457B02-ECBB-C0FE-9486-B96486E6CD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08" y="1207008"/>
            <a:ext cx="4616224" cy="3666744"/>
          </a:xfrm>
          <a:prstGeom prst="rect">
            <a:avLst/>
          </a:prstGeom>
        </p:spPr>
      </p:pic>
      <p:sp>
        <p:nvSpPr>
          <p:cNvPr id="22" name="Shape 15">
            <a:extLst>
              <a:ext uri="{FF2B5EF4-FFF2-40B4-BE49-F238E27FC236}">
                <a16:creationId xmlns:a16="http://schemas.microsoft.com/office/drawing/2014/main" id="{F4ABB83A-7964-659B-617B-B85A8CADCE6D}"/>
              </a:ext>
            </a:extLst>
          </p:cNvPr>
          <p:cNvSpPr/>
          <p:nvPr/>
        </p:nvSpPr>
        <p:spPr>
          <a:xfrm>
            <a:off x="5288280" y="1499616"/>
            <a:ext cx="3444240" cy="928116"/>
          </a:xfrm>
          <a:prstGeom prst="rect">
            <a:avLst/>
          </a:prstGeom>
          <a:solidFill>
            <a:srgbClr val="F8FAFC"/>
          </a:solidFill>
          <a:ln w="6350">
            <a:solidFill>
              <a:schemeClr val="bg2">
                <a:lumMod val="50000"/>
              </a:schemeClr>
            </a:solidFill>
            <a:prstDash val="solid"/>
          </a:ln>
        </p:spPr>
        <p:txBody>
          <a:bodyPr anchor="ctr"/>
          <a:lstStyle/>
          <a:p>
            <a:pPr algn="ctr"/>
            <a:r>
              <a:rPr lang="ko-KR" altLang="en-US" sz="1400" dirty="0">
                <a:ln w="0"/>
                <a:solidFill>
                  <a:schemeClr val="bg2">
                    <a:lumMod val="25000"/>
                  </a:schemeClr>
                </a:solidFill>
                <a:latin typeface="+mj-ea"/>
              </a:rPr>
              <a:t>형태소 분석기를 통해 </a:t>
            </a:r>
            <a:br>
              <a:rPr lang="en-US" altLang="ko-KR" sz="1400" dirty="0">
                <a:ln w="0"/>
                <a:solidFill>
                  <a:schemeClr val="bg2">
                    <a:lumMod val="25000"/>
                  </a:schemeClr>
                </a:solidFill>
                <a:latin typeface="+mj-ea"/>
              </a:rPr>
            </a:br>
            <a:r>
              <a:rPr lang="ko-KR" altLang="en-US" sz="1400" dirty="0">
                <a:ln w="0"/>
                <a:solidFill>
                  <a:schemeClr val="bg2">
                    <a:lumMod val="25000"/>
                  </a:schemeClr>
                </a:solidFill>
                <a:latin typeface="+mj-ea"/>
              </a:rPr>
              <a:t>어근</a:t>
            </a:r>
            <a:r>
              <a:rPr lang="en-US" altLang="ko-KR" sz="1400" dirty="0">
                <a:ln w="0"/>
                <a:solidFill>
                  <a:schemeClr val="bg2">
                    <a:lumMod val="25000"/>
                  </a:schemeClr>
                </a:solidFill>
                <a:latin typeface="+mj-ea"/>
              </a:rPr>
              <a:t>, </a:t>
            </a:r>
            <a:r>
              <a:rPr lang="ko-KR" altLang="en-US" sz="1400" dirty="0">
                <a:ln w="0"/>
                <a:solidFill>
                  <a:schemeClr val="bg2">
                    <a:lumMod val="25000"/>
                  </a:schemeClr>
                </a:solidFill>
                <a:latin typeface="+mj-ea"/>
              </a:rPr>
              <a:t>어간 추출</a:t>
            </a:r>
          </a:p>
        </p:txBody>
      </p:sp>
      <p:sp>
        <p:nvSpPr>
          <p:cNvPr id="23" name="Shape 15">
            <a:extLst>
              <a:ext uri="{FF2B5EF4-FFF2-40B4-BE49-F238E27FC236}">
                <a16:creationId xmlns:a16="http://schemas.microsoft.com/office/drawing/2014/main" id="{58A6AF8E-C416-EFF5-A23B-F9649E4AE386}"/>
              </a:ext>
            </a:extLst>
          </p:cNvPr>
          <p:cNvSpPr/>
          <p:nvPr/>
        </p:nvSpPr>
        <p:spPr>
          <a:xfrm>
            <a:off x="5288280" y="3195828"/>
            <a:ext cx="3444240" cy="1106424"/>
          </a:xfrm>
          <a:prstGeom prst="rect">
            <a:avLst/>
          </a:prstGeom>
          <a:solidFill>
            <a:srgbClr val="F8FAFC"/>
          </a:solidFill>
          <a:ln w="6350">
            <a:solidFill>
              <a:schemeClr val="bg2">
                <a:lumMod val="50000"/>
              </a:schemeClr>
            </a:solidFill>
            <a:prstDash val="solid"/>
          </a:ln>
        </p:spPr>
        <p:txBody>
          <a:bodyPr anchor="ctr"/>
          <a:lstStyle/>
          <a:p>
            <a:pPr algn="ctr"/>
            <a:r>
              <a:rPr lang="ko-KR" altLang="en-US" sz="1400" dirty="0">
                <a:ln w="0"/>
                <a:solidFill>
                  <a:schemeClr val="bg2">
                    <a:lumMod val="25000"/>
                  </a:schemeClr>
                </a:solidFill>
                <a:latin typeface="+mj-ea"/>
              </a:rPr>
              <a:t>정규표현식 및 </a:t>
            </a:r>
            <a:r>
              <a:rPr lang="ko-KR" altLang="en-US" sz="1400" dirty="0" err="1">
                <a:ln w="0"/>
                <a:solidFill>
                  <a:schemeClr val="bg2">
                    <a:lumMod val="25000"/>
                  </a:schemeClr>
                </a:solidFill>
                <a:latin typeface="+mj-ea"/>
              </a:rPr>
              <a:t>불용어</a:t>
            </a:r>
            <a:r>
              <a:rPr lang="en-US" altLang="ko-KR" sz="1400" dirty="0">
                <a:ln w="0"/>
                <a:solidFill>
                  <a:schemeClr val="bg2">
                    <a:lumMod val="25000"/>
                  </a:schemeClr>
                </a:solidFill>
                <a:latin typeface="+mj-ea"/>
              </a:rPr>
              <a:t>,</a:t>
            </a:r>
            <a:br>
              <a:rPr lang="en-US" altLang="ko-KR" sz="1400" dirty="0">
                <a:ln w="0"/>
                <a:solidFill>
                  <a:schemeClr val="bg2">
                    <a:lumMod val="25000"/>
                  </a:schemeClr>
                </a:solidFill>
                <a:latin typeface="+mj-ea"/>
              </a:rPr>
            </a:br>
            <a:r>
              <a:rPr lang="ko-KR" altLang="en-US" sz="1400" dirty="0">
                <a:ln w="0"/>
                <a:solidFill>
                  <a:schemeClr val="bg2">
                    <a:lumMod val="25000"/>
                  </a:schemeClr>
                </a:solidFill>
                <a:latin typeface="+mj-ea"/>
              </a:rPr>
              <a:t>단어나 어간 패턴을 통해 규칙기반으로</a:t>
            </a:r>
            <a:endParaRPr lang="en-US" altLang="ko-KR" sz="1400" dirty="0">
              <a:ln w="0"/>
              <a:solidFill>
                <a:schemeClr val="bg2">
                  <a:lumMod val="25000"/>
                </a:schemeClr>
              </a:solidFill>
              <a:latin typeface="+mj-ea"/>
            </a:endParaRPr>
          </a:p>
          <a:p>
            <a:pPr algn="ctr"/>
            <a:r>
              <a:rPr lang="ko-KR" altLang="en-US" sz="1400" dirty="0">
                <a:solidFill>
                  <a:schemeClr val="bg2">
                    <a:lumMod val="25000"/>
                  </a:schemeClr>
                </a:solidFill>
              </a:rPr>
              <a:t>데이터 추출 및 분류</a:t>
            </a:r>
          </a:p>
        </p:txBody>
      </p:sp>
      <p:sp>
        <p:nvSpPr>
          <p:cNvPr id="24" name="화살표: 오른쪽 23">
            <a:extLst>
              <a:ext uri="{FF2B5EF4-FFF2-40B4-BE49-F238E27FC236}">
                <a16:creationId xmlns:a16="http://schemas.microsoft.com/office/drawing/2014/main" id="{3E73E950-9C6E-8EE8-3716-9F6912F1B0D3}"/>
              </a:ext>
            </a:extLst>
          </p:cNvPr>
          <p:cNvSpPr/>
          <p:nvPr/>
        </p:nvSpPr>
        <p:spPr>
          <a:xfrm rot="5400000">
            <a:off x="6796278" y="2691384"/>
            <a:ext cx="425196" cy="291084"/>
          </a:xfrm>
          <a:prstGeom prst="rightArrow">
            <a:avLst>
              <a:gd name="adj1" fmla="val 48255"/>
              <a:gd name="adj2" fmla="val 82667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0698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89B3A-43FB-E89A-C090-5CDB619FA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B8578B1-0F69-1E75-B1E9-BF8E9527CFFA}"/>
              </a:ext>
            </a:extLst>
          </p:cNvPr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83756E0-5024-3517-A6A2-F117F011B7BF}"/>
              </a:ext>
            </a:extLst>
          </p:cNvPr>
          <p:cNvSpPr/>
          <p:nvPr/>
        </p:nvSpPr>
        <p:spPr>
          <a:xfrm>
            <a:off x="347472" y="137160"/>
            <a:ext cx="566928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6D6462D-D06E-66F3-AAEA-E3320D134DB8}"/>
              </a:ext>
            </a:extLst>
          </p:cNvPr>
          <p:cNvSpPr/>
          <p:nvPr/>
        </p:nvSpPr>
        <p:spPr>
          <a:xfrm>
            <a:off x="347472" y="137160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5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D5C0665-C5BE-8492-D3AC-F425F501CC8B}"/>
              </a:ext>
            </a:extLst>
          </p:cNvPr>
          <p:cNvSpPr/>
          <p:nvPr/>
        </p:nvSpPr>
        <p:spPr>
          <a:xfrm>
            <a:off x="1078992" y="54864"/>
            <a:ext cx="7818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Mail2Task</a:t>
            </a: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 실제 화면 구성</a:t>
            </a:r>
            <a:endParaRPr lang="en-US" sz="2400" dirty="0">
              <a:solidFill>
                <a:schemeClr val="bg1"/>
              </a:solidFill>
              <a:latin typeface="맑은고딕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589399E-4531-3CCD-3117-B15FB363EC41}"/>
              </a:ext>
            </a:extLst>
          </p:cNvPr>
          <p:cNvSpPr/>
          <p:nvPr/>
        </p:nvSpPr>
        <p:spPr>
          <a:xfrm>
            <a:off x="0" y="749808"/>
            <a:ext cx="9144000" cy="320040"/>
          </a:xfrm>
          <a:prstGeom prst="rect">
            <a:avLst/>
          </a:prstGeom>
          <a:solidFill>
            <a:srgbClr val="EBF5F8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EF9F842-95E5-5A5C-F144-EBF13393B31C}"/>
              </a:ext>
            </a:extLst>
          </p:cNvPr>
          <p:cNvSpPr/>
          <p:nvPr/>
        </p:nvSpPr>
        <p:spPr>
          <a:xfrm>
            <a:off x="0" y="749808"/>
            <a:ext cx="4572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FA3AE5A-169A-E1CD-F43C-1219E28F8161}"/>
              </a:ext>
            </a:extLst>
          </p:cNvPr>
          <p:cNvSpPr/>
          <p:nvPr/>
        </p:nvSpPr>
        <p:spPr>
          <a:xfrm>
            <a:off x="201168" y="74980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4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6-4) </a:t>
            </a:r>
            <a:r>
              <a:rPr lang="ko-KR" altLang="en-US" sz="14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수신된 메일의 내용과 연관된 </a:t>
            </a:r>
            <a:r>
              <a:rPr lang="en-US" altLang="ko-KR" sz="14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PDF </a:t>
            </a:r>
            <a:r>
              <a:rPr lang="ko-KR" altLang="en-US" sz="14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파일을 추천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E84A768D-48E8-98BB-30C0-D6AB2CC734DE}"/>
              </a:ext>
            </a:extLst>
          </p:cNvPr>
          <p:cNvSpPr/>
          <p:nvPr/>
        </p:nvSpPr>
        <p:spPr>
          <a:xfrm>
            <a:off x="7315200" y="4873752"/>
            <a:ext cx="1554480" cy="201168"/>
          </a:xfrm>
          <a:prstGeom prst="rect">
            <a:avLst/>
          </a:prstGeom>
          <a:noFill/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570C829-160F-27AD-4EF3-AFCD45D9E67C}"/>
              </a:ext>
            </a:extLst>
          </p:cNvPr>
          <p:cNvSpPr/>
          <p:nvPr/>
        </p:nvSpPr>
        <p:spPr>
          <a:xfrm>
            <a:off x="7315200" y="487375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9  /  13</a:t>
            </a:r>
            <a:endParaRPr lang="en-US" sz="1000" dirty="0"/>
          </a:p>
        </p:txBody>
      </p:sp>
      <p:sp>
        <p:nvSpPr>
          <p:cNvPr id="18" name="AutoShape 10">
            <a:extLst>
              <a:ext uri="{FF2B5EF4-FFF2-40B4-BE49-F238E27FC236}">
                <a16:creationId xmlns:a16="http://schemas.microsoft.com/office/drawing/2014/main" id="{C65687C3-A711-5204-8E93-3050AD65450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E55EBF37-96C3-28BD-4A21-270002D13E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87819"/>
            <a:ext cx="4370836" cy="3918521"/>
          </a:xfrm>
          <a:prstGeom prst="rect">
            <a:avLst/>
          </a:prstGeom>
        </p:spPr>
      </p:pic>
      <p:sp>
        <p:nvSpPr>
          <p:cNvPr id="16" name="Shape 15">
            <a:extLst>
              <a:ext uri="{FF2B5EF4-FFF2-40B4-BE49-F238E27FC236}">
                <a16:creationId xmlns:a16="http://schemas.microsoft.com/office/drawing/2014/main" id="{9FB494EE-50F4-66AB-C3C6-EE56D571F478}"/>
              </a:ext>
            </a:extLst>
          </p:cNvPr>
          <p:cNvSpPr/>
          <p:nvPr/>
        </p:nvSpPr>
        <p:spPr>
          <a:xfrm>
            <a:off x="5288280" y="1499616"/>
            <a:ext cx="3444240" cy="928116"/>
          </a:xfrm>
          <a:prstGeom prst="rect">
            <a:avLst/>
          </a:prstGeom>
          <a:solidFill>
            <a:srgbClr val="F8FAFC"/>
          </a:solidFill>
          <a:ln w="6350">
            <a:solidFill>
              <a:schemeClr val="bg2">
                <a:lumMod val="50000"/>
              </a:schemeClr>
            </a:solidFill>
            <a:prstDash val="solid"/>
          </a:ln>
        </p:spPr>
        <p:txBody>
          <a:bodyPr anchor="ctr"/>
          <a:lstStyle/>
          <a:p>
            <a:pPr algn="ctr"/>
            <a:r>
              <a:rPr lang="ko-KR" altLang="en-US" sz="1400" dirty="0">
                <a:ln w="0"/>
                <a:solidFill>
                  <a:schemeClr val="bg2">
                    <a:lumMod val="25000"/>
                  </a:schemeClr>
                </a:solidFill>
                <a:latin typeface="+mj-ea"/>
              </a:rPr>
              <a:t>형태소 분석기를 통해</a:t>
            </a:r>
            <a:endParaRPr lang="en-US" altLang="ko-KR" sz="1400" dirty="0">
              <a:ln w="0"/>
              <a:solidFill>
                <a:schemeClr val="bg2">
                  <a:lumMod val="25000"/>
                </a:schemeClr>
              </a:solidFill>
              <a:latin typeface="+mj-ea"/>
            </a:endParaRPr>
          </a:p>
          <a:p>
            <a:pPr algn="ctr"/>
            <a:r>
              <a:rPr lang="ko-KR" altLang="en-US" sz="1400" dirty="0">
                <a:ln w="0"/>
                <a:solidFill>
                  <a:schemeClr val="bg2">
                    <a:lumMod val="25000"/>
                  </a:schemeClr>
                </a:solidFill>
                <a:latin typeface="+mj-ea"/>
              </a:rPr>
              <a:t>기존 </a:t>
            </a:r>
            <a:r>
              <a:rPr lang="en-US" altLang="ko-KR" sz="1400" dirty="0">
                <a:ln w="0"/>
                <a:solidFill>
                  <a:schemeClr val="bg2">
                    <a:lumMod val="25000"/>
                  </a:schemeClr>
                </a:solidFill>
                <a:latin typeface="+mj-ea"/>
              </a:rPr>
              <a:t>PDF </a:t>
            </a:r>
            <a:r>
              <a:rPr lang="ko-KR" altLang="en-US" sz="1400" dirty="0">
                <a:ln w="0"/>
                <a:solidFill>
                  <a:schemeClr val="bg2">
                    <a:lumMod val="25000"/>
                  </a:schemeClr>
                </a:solidFill>
                <a:latin typeface="+mj-ea"/>
              </a:rPr>
              <a:t>문서</a:t>
            </a:r>
            <a:r>
              <a:rPr lang="en-US" altLang="ko-KR" sz="1400" dirty="0">
                <a:ln w="0"/>
                <a:solidFill>
                  <a:schemeClr val="bg2">
                    <a:lumMod val="25000"/>
                  </a:schemeClr>
                </a:solidFill>
                <a:latin typeface="+mj-ea"/>
              </a:rPr>
              <a:t>, </a:t>
            </a:r>
            <a:r>
              <a:rPr lang="ko-KR" altLang="en-US" sz="1400" dirty="0">
                <a:ln w="0"/>
                <a:solidFill>
                  <a:schemeClr val="bg2">
                    <a:lumMod val="25000"/>
                  </a:schemeClr>
                </a:solidFill>
                <a:latin typeface="+mj-ea"/>
              </a:rPr>
              <a:t>본문내용 어근 추출</a:t>
            </a: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90D57C68-E75D-7CAC-62EA-EF4E1663E0BE}"/>
              </a:ext>
            </a:extLst>
          </p:cNvPr>
          <p:cNvSpPr/>
          <p:nvPr/>
        </p:nvSpPr>
        <p:spPr>
          <a:xfrm>
            <a:off x="5288280" y="3195828"/>
            <a:ext cx="3444240" cy="928116"/>
          </a:xfrm>
          <a:prstGeom prst="rect">
            <a:avLst/>
          </a:prstGeom>
          <a:solidFill>
            <a:srgbClr val="F8FAFC"/>
          </a:solidFill>
          <a:ln w="6350">
            <a:solidFill>
              <a:schemeClr val="bg2">
                <a:lumMod val="50000"/>
              </a:schemeClr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400" dirty="0">
                <a:solidFill>
                  <a:schemeClr val="bg2">
                    <a:lumMod val="25000"/>
                  </a:schemeClr>
                </a:solidFill>
              </a:rPr>
              <a:t>TF-IDF </a:t>
            </a:r>
            <a:r>
              <a:rPr lang="ko-KR" altLang="en-US" sz="1400" dirty="0">
                <a:solidFill>
                  <a:schemeClr val="bg2">
                    <a:lumMod val="25000"/>
                  </a:schemeClr>
                </a:solidFill>
              </a:rPr>
              <a:t>코사인 유사도 기반 추천</a:t>
            </a:r>
            <a:endParaRPr lang="en-US" altLang="ko-KR" sz="1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9" name="화살표: 오른쪽 18">
            <a:extLst>
              <a:ext uri="{FF2B5EF4-FFF2-40B4-BE49-F238E27FC236}">
                <a16:creationId xmlns:a16="http://schemas.microsoft.com/office/drawing/2014/main" id="{FB53B68C-C9C5-8521-552A-5525B461E6B4}"/>
              </a:ext>
            </a:extLst>
          </p:cNvPr>
          <p:cNvSpPr/>
          <p:nvPr/>
        </p:nvSpPr>
        <p:spPr>
          <a:xfrm rot="5400000">
            <a:off x="6796278" y="2691384"/>
            <a:ext cx="425196" cy="291084"/>
          </a:xfrm>
          <a:prstGeom prst="rightArrow">
            <a:avLst>
              <a:gd name="adj1" fmla="val 48255"/>
              <a:gd name="adj2" fmla="val 82667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3700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41170-D6C2-98AC-2C1F-4624C394A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954A58D-098E-5309-2FD2-6633BCC6B56E}"/>
              </a:ext>
            </a:extLst>
          </p:cNvPr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210A8D8-FFC6-5A24-F998-762ADF818A8D}"/>
              </a:ext>
            </a:extLst>
          </p:cNvPr>
          <p:cNvSpPr/>
          <p:nvPr/>
        </p:nvSpPr>
        <p:spPr>
          <a:xfrm>
            <a:off x="347472" y="137160"/>
            <a:ext cx="566928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FA7D14B-EF7F-CEB7-6478-CC4473A607ED}"/>
              </a:ext>
            </a:extLst>
          </p:cNvPr>
          <p:cNvSpPr/>
          <p:nvPr/>
        </p:nvSpPr>
        <p:spPr>
          <a:xfrm>
            <a:off x="347472" y="137160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5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8133138-17D5-2C25-C29D-EC6C8B220D4B}"/>
              </a:ext>
            </a:extLst>
          </p:cNvPr>
          <p:cNvSpPr/>
          <p:nvPr/>
        </p:nvSpPr>
        <p:spPr>
          <a:xfrm>
            <a:off x="1078992" y="54864"/>
            <a:ext cx="7818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Mail2Task</a:t>
            </a: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 실제 화면 구성</a:t>
            </a:r>
            <a:endParaRPr lang="en-US" sz="2400" dirty="0">
              <a:solidFill>
                <a:schemeClr val="bg1"/>
              </a:solidFill>
              <a:latin typeface="맑은고딕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F07EE22-39D7-DF4D-69AC-794F79F01A4F}"/>
              </a:ext>
            </a:extLst>
          </p:cNvPr>
          <p:cNvSpPr/>
          <p:nvPr/>
        </p:nvSpPr>
        <p:spPr>
          <a:xfrm>
            <a:off x="0" y="749808"/>
            <a:ext cx="4572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09D505A-2B0B-1AC1-ED87-C13AB96B0505}"/>
              </a:ext>
            </a:extLst>
          </p:cNvPr>
          <p:cNvSpPr/>
          <p:nvPr/>
        </p:nvSpPr>
        <p:spPr>
          <a:xfrm>
            <a:off x="201168" y="74980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ko-KR" altLang="en-US" sz="1100" i="1" dirty="0">
              <a:solidFill>
                <a:srgbClr val="64748B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02CAFEF5-1EEA-745C-765F-FE2B21B8CC99}"/>
              </a:ext>
            </a:extLst>
          </p:cNvPr>
          <p:cNvSpPr/>
          <p:nvPr/>
        </p:nvSpPr>
        <p:spPr>
          <a:xfrm>
            <a:off x="7315200" y="4873752"/>
            <a:ext cx="1554480" cy="201168"/>
          </a:xfrm>
          <a:prstGeom prst="rect">
            <a:avLst/>
          </a:prstGeom>
          <a:noFill/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E66635E-BD37-F9DF-0567-1F85079611EE}"/>
              </a:ext>
            </a:extLst>
          </p:cNvPr>
          <p:cNvSpPr/>
          <p:nvPr/>
        </p:nvSpPr>
        <p:spPr>
          <a:xfrm>
            <a:off x="7315200" y="487375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10  /  13</a:t>
            </a:r>
            <a:endParaRPr lang="en-US" sz="1000" dirty="0"/>
          </a:p>
        </p:txBody>
      </p:sp>
      <p:sp>
        <p:nvSpPr>
          <p:cNvPr id="18" name="AutoShape 10">
            <a:extLst>
              <a:ext uri="{FF2B5EF4-FFF2-40B4-BE49-F238E27FC236}">
                <a16:creationId xmlns:a16="http://schemas.microsoft.com/office/drawing/2014/main" id="{C70799C2-0FBC-5C57-4EF0-2BB84767D14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63868D8E-7E27-9985-E397-3933F171E3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101852"/>
            <a:ext cx="4691216" cy="3771900"/>
          </a:xfrm>
          <a:prstGeom prst="rect">
            <a:avLst/>
          </a:prstGeom>
        </p:spPr>
      </p:pic>
      <p:sp>
        <p:nvSpPr>
          <p:cNvPr id="14" name="Shape 4">
            <a:extLst>
              <a:ext uri="{FF2B5EF4-FFF2-40B4-BE49-F238E27FC236}">
                <a16:creationId xmlns:a16="http://schemas.microsoft.com/office/drawing/2014/main" id="{BAAEA278-5A7D-14F8-D0BC-55E1A1FAB89E}"/>
              </a:ext>
            </a:extLst>
          </p:cNvPr>
          <p:cNvSpPr/>
          <p:nvPr/>
        </p:nvSpPr>
        <p:spPr>
          <a:xfrm>
            <a:off x="45720" y="749808"/>
            <a:ext cx="9144000" cy="320040"/>
          </a:xfrm>
          <a:prstGeom prst="rect">
            <a:avLst/>
          </a:prstGeom>
          <a:solidFill>
            <a:srgbClr val="EBF5F8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r>
              <a:rPr lang="en-US" altLang="ko-KR" sz="14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6-5) </a:t>
            </a:r>
            <a:r>
              <a:rPr lang="ko-KR" altLang="en-US" sz="14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 완료 메일 회신 자동화</a:t>
            </a:r>
          </a:p>
        </p:txBody>
      </p:sp>
      <p:sp>
        <p:nvSpPr>
          <p:cNvPr id="11" name="Shape 15">
            <a:extLst>
              <a:ext uri="{FF2B5EF4-FFF2-40B4-BE49-F238E27FC236}">
                <a16:creationId xmlns:a16="http://schemas.microsoft.com/office/drawing/2014/main" id="{A7213564-CFD4-14C7-E946-437C674B96B7}"/>
              </a:ext>
            </a:extLst>
          </p:cNvPr>
          <p:cNvSpPr/>
          <p:nvPr/>
        </p:nvSpPr>
        <p:spPr>
          <a:xfrm>
            <a:off x="6419088" y="1663519"/>
            <a:ext cx="2377440" cy="928116"/>
          </a:xfrm>
          <a:prstGeom prst="rect">
            <a:avLst/>
          </a:prstGeom>
          <a:solidFill>
            <a:srgbClr val="F8FAFC"/>
          </a:solidFill>
          <a:ln w="6350">
            <a:solidFill>
              <a:schemeClr val="bg2">
                <a:lumMod val="50000"/>
              </a:schemeClr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400" dirty="0">
                <a:ln w="0"/>
                <a:solidFill>
                  <a:schemeClr val="bg2">
                    <a:lumMod val="25000"/>
                  </a:schemeClr>
                </a:solidFill>
                <a:latin typeface="+mj-ea"/>
              </a:rPr>
              <a:t>SMTP </a:t>
            </a:r>
            <a:r>
              <a:rPr lang="ko-KR" altLang="en-US" sz="1400" dirty="0">
                <a:ln w="0"/>
                <a:solidFill>
                  <a:schemeClr val="bg2">
                    <a:lumMod val="25000"/>
                  </a:schemeClr>
                </a:solidFill>
                <a:latin typeface="+mj-ea"/>
              </a:rPr>
              <a:t>프로토콜을 통해</a:t>
            </a:r>
            <a:endParaRPr lang="en-US" altLang="ko-KR" sz="1400" dirty="0">
              <a:ln w="0"/>
              <a:solidFill>
                <a:schemeClr val="bg2">
                  <a:lumMod val="25000"/>
                </a:schemeClr>
              </a:solidFill>
              <a:latin typeface="+mj-ea"/>
            </a:endParaRPr>
          </a:p>
          <a:p>
            <a:pPr algn="ctr"/>
            <a:r>
              <a:rPr lang="ko-KR" altLang="en-US" sz="1400" dirty="0">
                <a:ln w="0"/>
                <a:solidFill>
                  <a:schemeClr val="bg2">
                    <a:lumMod val="25000"/>
                  </a:schemeClr>
                </a:solidFill>
                <a:latin typeface="+mj-ea"/>
              </a:rPr>
              <a:t>업무 </a:t>
            </a:r>
            <a:r>
              <a:rPr lang="ko-KR" altLang="en-US" sz="1400">
                <a:ln w="0"/>
                <a:solidFill>
                  <a:schemeClr val="bg2">
                    <a:lumMod val="25000"/>
                  </a:schemeClr>
                </a:solidFill>
                <a:latin typeface="+mj-ea"/>
              </a:rPr>
              <a:t>완료 메일을</a:t>
            </a:r>
            <a:r>
              <a:rPr lang="en-US" altLang="ko-KR" sz="1400">
                <a:ln w="0"/>
                <a:solidFill>
                  <a:schemeClr val="bg2">
                    <a:lumMod val="25000"/>
                  </a:schemeClr>
                </a:solidFill>
                <a:latin typeface="+mj-ea"/>
              </a:rPr>
              <a:t> </a:t>
            </a:r>
            <a:br>
              <a:rPr lang="en-US" altLang="ko-KR" sz="1400" dirty="0">
                <a:ln w="0"/>
                <a:solidFill>
                  <a:schemeClr val="bg2">
                    <a:lumMod val="25000"/>
                  </a:schemeClr>
                </a:solidFill>
                <a:latin typeface="+mj-ea"/>
              </a:rPr>
            </a:br>
            <a:r>
              <a:rPr lang="ko-KR" altLang="en-US" sz="1400" dirty="0">
                <a:ln w="0"/>
                <a:solidFill>
                  <a:schemeClr val="bg2">
                    <a:lumMod val="25000"/>
                  </a:schemeClr>
                </a:solidFill>
                <a:latin typeface="+mj-ea"/>
              </a:rPr>
              <a:t>발신자에게 회신</a:t>
            </a:r>
          </a:p>
        </p:txBody>
      </p:sp>
    </p:spTree>
    <p:extLst>
      <p:ext uri="{BB962C8B-B14F-4D97-AF65-F5344CB8AC3E}">
        <p14:creationId xmlns:p14="http://schemas.microsoft.com/office/powerpoint/2010/main" val="1829825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DF429-BB51-2E75-5A12-4B09D5B5B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DF133A7-2916-B81D-6880-F1583A768BCA}"/>
              </a:ext>
            </a:extLst>
          </p:cNvPr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8D649FF-CF3A-1DE7-224A-10D8183C8EB8}"/>
              </a:ext>
            </a:extLst>
          </p:cNvPr>
          <p:cNvSpPr/>
          <p:nvPr/>
        </p:nvSpPr>
        <p:spPr>
          <a:xfrm>
            <a:off x="347472" y="137160"/>
            <a:ext cx="566928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83428D7-4364-1393-E20B-9D0769E0B502}"/>
              </a:ext>
            </a:extLst>
          </p:cNvPr>
          <p:cNvSpPr/>
          <p:nvPr/>
        </p:nvSpPr>
        <p:spPr>
          <a:xfrm>
            <a:off x="347472" y="137160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5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9ACD842-7DC7-BF4F-0EA0-C74B0DBFFFD9}"/>
              </a:ext>
            </a:extLst>
          </p:cNvPr>
          <p:cNvSpPr/>
          <p:nvPr/>
        </p:nvSpPr>
        <p:spPr>
          <a:xfrm>
            <a:off x="1078992" y="54864"/>
            <a:ext cx="7818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Mail2Task</a:t>
            </a: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 실제 화면 구성</a:t>
            </a:r>
            <a:endParaRPr lang="en-US" sz="2400" dirty="0">
              <a:solidFill>
                <a:schemeClr val="bg1"/>
              </a:solidFill>
              <a:latin typeface="맑은고딕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34FE0B0-8889-EFEB-6060-41B59930FCD4}"/>
              </a:ext>
            </a:extLst>
          </p:cNvPr>
          <p:cNvSpPr/>
          <p:nvPr/>
        </p:nvSpPr>
        <p:spPr>
          <a:xfrm>
            <a:off x="0" y="749808"/>
            <a:ext cx="4572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D2F0477-ABBA-05CD-B9A5-5B1A68DEC77D}"/>
              </a:ext>
            </a:extLst>
          </p:cNvPr>
          <p:cNvSpPr/>
          <p:nvPr/>
        </p:nvSpPr>
        <p:spPr>
          <a:xfrm>
            <a:off x="201168" y="74980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ko-KR" altLang="en-US" sz="1100" i="1" dirty="0">
              <a:solidFill>
                <a:srgbClr val="64748B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2BD9FDA7-74B0-C3BC-90A2-3021FA13EF5F}"/>
              </a:ext>
            </a:extLst>
          </p:cNvPr>
          <p:cNvSpPr/>
          <p:nvPr/>
        </p:nvSpPr>
        <p:spPr>
          <a:xfrm>
            <a:off x="7342632" y="4881372"/>
            <a:ext cx="1554480" cy="201168"/>
          </a:xfrm>
          <a:prstGeom prst="rect">
            <a:avLst/>
          </a:prstGeom>
          <a:noFill/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22E9071-5009-66C8-599E-43768B3EA946}"/>
              </a:ext>
            </a:extLst>
          </p:cNvPr>
          <p:cNvSpPr/>
          <p:nvPr/>
        </p:nvSpPr>
        <p:spPr>
          <a:xfrm>
            <a:off x="7315200" y="487375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11  /  13</a:t>
            </a:r>
            <a:endParaRPr lang="en-US" sz="1000" dirty="0"/>
          </a:p>
        </p:txBody>
      </p:sp>
      <p:sp>
        <p:nvSpPr>
          <p:cNvPr id="18" name="AutoShape 10">
            <a:extLst>
              <a:ext uri="{FF2B5EF4-FFF2-40B4-BE49-F238E27FC236}">
                <a16:creationId xmlns:a16="http://schemas.microsoft.com/office/drawing/2014/main" id="{62BE30A9-2B16-16B8-AFEF-C9B7CC3063D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21D8F47C-62A6-3443-081C-2749DAD84590}"/>
              </a:ext>
            </a:extLst>
          </p:cNvPr>
          <p:cNvSpPr/>
          <p:nvPr/>
        </p:nvSpPr>
        <p:spPr>
          <a:xfrm>
            <a:off x="45720" y="749808"/>
            <a:ext cx="9144000" cy="320040"/>
          </a:xfrm>
          <a:prstGeom prst="rect">
            <a:avLst/>
          </a:prstGeom>
          <a:solidFill>
            <a:srgbClr val="EBF5F8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r>
              <a:rPr lang="en-US" altLang="ko-KR" sz="14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6-6) </a:t>
            </a:r>
            <a:r>
              <a:rPr lang="ko-KR" altLang="en-US" sz="14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분류 유형별 대시보드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53A2D5BF-F101-339A-6582-31E99ACE29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1276277"/>
            <a:ext cx="8333232" cy="3605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7640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347472" y="137160"/>
            <a:ext cx="566928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47472" y="137160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78992" y="54864"/>
            <a:ext cx="7818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 효과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-8313" y="749808"/>
            <a:ext cx="9144000" cy="320040"/>
          </a:xfrm>
          <a:prstGeom prst="rect">
            <a:avLst/>
          </a:prstGeom>
          <a:solidFill>
            <a:srgbClr val="EBF5F8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0" y="749808"/>
            <a:ext cx="4572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01168" y="74980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 기반 업무 자동화가 가져오는 실질적인 변화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0" y="4873752"/>
            <a:ext cx="1554480" cy="201168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315200" y="487375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12  /  13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1207008"/>
            <a:ext cx="3931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11480" y="1207008"/>
            <a:ext cx="64008" cy="1645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12648" y="1408176"/>
            <a:ext cx="777240" cy="777240"/>
          </a:xfrm>
          <a:prstGeom prst="ellipse">
            <a:avLst/>
          </a:prstGeom>
          <a:solidFill>
            <a:srgbClr val="065A82">
              <a:alpha val="12000"/>
            </a:srgbClr>
          </a:solidFill>
          <a:ln w="12700">
            <a:solidFill>
              <a:srgbClr val="065A8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12648" y="1408176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508760" y="1371600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누락 감소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508760" y="1865376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자동화된 수집과 추출로 메일에서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중요한 업무 요청이 누락될 </a:t>
            </a:r>
            <a:r>
              <a:rPr lang="en-US" sz="1100" dirty="0" err="1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위험을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b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</a:br>
            <a:r>
              <a:rPr lang="en-US" sz="1100" dirty="0" err="1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줄입니다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2798064"/>
            <a:ext cx="3931920" cy="54864"/>
          </a:xfrm>
          <a:prstGeom prst="rect">
            <a:avLst/>
          </a:prstGeom>
          <a:solidFill>
            <a:srgbClr val="065A82">
              <a:alpha val="30000"/>
            </a:srgbClr>
          </a:solidFill>
          <a:ln w="12700">
            <a:solidFill>
              <a:srgbClr val="065A8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800600" y="1207008"/>
            <a:ext cx="3931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4800600" y="1207008"/>
            <a:ext cx="64008" cy="1645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5001768" y="1408176"/>
            <a:ext cx="777240" cy="77724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001768" y="1408176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897880" y="1371600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우선순위 판단 시간 단축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97880" y="1865376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긴급도와 마감일을 자동 계산해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사용자의 판단 부담을 덜어줍니다.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00600" y="2798064"/>
            <a:ext cx="3931920" cy="54864"/>
          </a:xfrm>
          <a:prstGeom prst="rect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411480" y="3127248"/>
            <a:ext cx="3931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411480" y="3127248"/>
            <a:ext cx="64008" cy="1645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612648" y="3328416"/>
            <a:ext cx="777240" cy="77724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12648" y="3328416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🔄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1508760" y="3291840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반복적인 정리 작업 감소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508760" y="3785616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수동으로 메일을 읽고 분류하던 반복 작업이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사라져 핵심 업무에 집중할 수 있습니다.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11480" y="4718304"/>
            <a:ext cx="3931920" cy="54864"/>
          </a:xfrm>
          <a:prstGeom prst="rect">
            <a:avLst/>
          </a:prstGeom>
          <a:solidFill>
            <a:srgbClr val="7C3AED">
              <a:alpha val="30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4800600" y="3127248"/>
            <a:ext cx="3931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4800600" y="3127248"/>
            <a:ext cx="64008" cy="16459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5001768" y="3328416"/>
            <a:ext cx="777240" cy="777240"/>
          </a:xfrm>
          <a:prstGeom prst="ellipse">
            <a:avLst/>
          </a:prstGeom>
          <a:solidFill>
            <a:srgbClr val="B45309">
              <a:alpha val="12000"/>
            </a:srgbClr>
          </a:solidFill>
          <a:ln w="12700">
            <a:solidFill>
              <a:srgbClr val="B45309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5001768" y="3328416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🤝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5897880" y="3291840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 기반 협업 효율 향상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897880" y="3785616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 메일 자동 발송으로 </a:t>
            </a:r>
            <a:r>
              <a:rPr lang="en-US" sz="1100" dirty="0" err="1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협업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dirty="0" err="1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상대방에게도</a:t>
            </a:r>
            <a:r>
              <a:rPr lang="en-US" sz="1100" dirty="0"/>
              <a:t> </a:t>
            </a:r>
            <a:r>
              <a:rPr lang="en-US" sz="1100" dirty="0" err="1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완료가 즉시 전달됩니다.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00600" y="4718304"/>
            <a:ext cx="3931920" cy="54864"/>
          </a:xfrm>
          <a:prstGeom prst="rect">
            <a:avLst/>
          </a:prstGeom>
          <a:solidFill>
            <a:srgbClr val="B45309">
              <a:alpha val="30000"/>
            </a:srgbClr>
          </a:solidFill>
          <a:ln w="12700">
            <a:solidFill>
              <a:srgbClr val="B45309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6BA50-B559-E5EB-DC2E-FC2F30A0B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A5282AD-D906-4E2E-0655-874FCF06D983}"/>
              </a:ext>
            </a:extLst>
          </p:cNvPr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015349B-4F25-7178-F859-79DFCDA46672}"/>
              </a:ext>
            </a:extLst>
          </p:cNvPr>
          <p:cNvSpPr/>
          <p:nvPr/>
        </p:nvSpPr>
        <p:spPr>
          <a:xfrm>
            <a:off x="347472" y="137160"/>
            <a:ext cx="566928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F2FAFEF-5CD0-8446-4C9B-3C0BA94A978A}"/>
              </a:ext>
            </a:extLst>
          </p:cNvPr>
          <p:cNvSpPr/>
          <p:nvPr/>
        </p:nvSpPr>
        <p:spPr>
          <a:xfrm>
            <a:off x="347472" y="137160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</a:t>
            </a:r>
            <a:endParaRPr lang="en-US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0CA4BE1-B34F-8518-B8D6-913A4AC19B3B}"/>
              </a:ext>
            </a:extLst>
          </p:cNvPr>
          <p:cNvSpPr/>
          <p:nvPr/>
        </p:nvSpPr>
        <p:spPr>
          <a:xfrm>
            <a:off x="1078992" y="54864"/>
            <a:ext cx="7818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팀원</a:t>
            </a: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소개</a:t>
            </a:r>
            <a:endParaRPr lang="en-US" sz="24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E54A4EF-FFF4-4C37-E403-13A368213CED}"/>
              </a:ext>
            </a:extLst>
          </p:cNvPr>
          <p:cNvSpPr/>
          <p:nvPr/>
        </p:nvSpPr>
        <p:spPr>
          <a:xfrm>
            <a:off x="0" y="749808"/>
            <a:ext cx="9144000" cy="320040"/>
          </a:xfrm>
          <a:prstGeom prst="rect">
            <a:avLst/>
          </a:prstGeom>
          <a:solidFill>
            <a:srgbClr val="EBF5F8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8E5F299-5E1F-5BCA-14A2-25F841F35256}"/>
              </a:ext>
            </a:extLst>
          </p:cNvPr>
          <p:cNvSpPr/>
          <p:nvPr/>
        </p:nvSpPr>
        <p:spPr>
          <a:xfrm>
            <a:off x="0" y="749808"/>
            <a:ext cx="4572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2B8BED4-90CC-EDEA-E0ED-86B3A905DBC5}"/>
              </a:ext>
            </a:extLst>
          </p:cNvPr>
          <p:cNvSpPr/>
          <p:nvPr/>
        </p:nvSpPr>
        <p:spPr>
          <a:xfrm>
            <a:off x="201168" y="74980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4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 분배 및 팀원 소개</a:t>
            </a:r>
            <a:endParaRPr lang="en-US" sz="14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4F88BF6-65D8-87B6-6D7A-FAC0F98C52C1}"/>
              </a:ext>
            </a:extLst>
          </p:cNvPr>
          <p:cNvSpPr/>
          <p:nvPr/>
        </p:nvSpPr>
        <p:spPr>
          <a:xfrm>
            <a:off x="7315200" y="4873752"/>
            <a:ext cx="1554480" cy="201168"/>
          </a:xfrm>
          <a:prstGeom prst="rect">
            <a:avLst/>
          </a:prstGeom>
          <a:noFill/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A940F00-AB24-0787-0C17-A959C8BEFA75}"/>
              </a:ext>
            </a:extLst>
          </p:cNvPr>
          <p:cNvSpPr/>
          <p:nvPr/>
        </p:nvSpPr>
        <p:spPr>
          <a:xfrm>
            <a:off x="7315200" y="487375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13  /  13</a:t>
            </a:r>
            <a:endParaRPr lang="en-US" sz="1000" dirty="0"/>
          </a:p>
        </p:txBody>
      </p:sp>
      <p:sp>
        <p:nvSpPr>
          <p:cNvPr id="39" name="Shape 9">
            <a:extLst>
              <a:ext uri="{FF2B5EF4-FFF2-40B4-BE49-F238E27FC236}">
                <a16:creationId xmlns:a16="http://schemas.microsoft.com/office/drawing/2014/main" id="{E6468B86-40C2-0C86-87AC-988AE58DC41C}"/>
              </a:ext>
            </a:extLst>
          </p:cNvPr>
          <p:cNvSpPr/>
          <p:nvPr/>
        </p:nvSpPr>
        <p:spPr>
          <a:xfrm>
            <a:off x="411480" y="1188720"/>
            <a:ext cx="2670048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40" name="Shape 10">
            <a:extLst>
              <a:ext uri="{FF2B5EF4-FFF2-40B4-BE49-F238E27FC236}">
                <a16:creationId xmlns:a16="http://schemas.microsoft.com/office/drawing/2014/main" id="{0B99A22F-A284-F93B-3F4D-F97F1CF49A4E}"/>
              </a:ext>
            </a:extLst>
          </p:cNvPr>
          <p:cNvSpPr/>
          <p:nvPr/>
        </p:nvSpPr>
        <p:spPr>
          <a:xfrm>
            <a:off x="411480" y="1188720"/>
            <a:ext cx="2670048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11">
            <a:extLst>
              <a:ext uri="{FF2B5EF4-FFF2-40B4-BE49-F238E27FC236}">
                <a16:creationId xmlns:a16="http://schemas.microsoft.com/office/drawing/2014/main" id="{5F3A0327-1E59-B6A6-8D15-C15154A11F08}"/>
              </a:ext>
            </a:extLst>
          </p:cNvPr>
          <p:cNvSpPr/>
          <p:nvPr/>
        </p:nvSpPr>
        <p:spPr>
          <a:xfrm>
            <a:off x="1289304" y="1622879"/>
            <a:ext cx="914400" cy="914400"/>
          </a:xfrm>
          <a:prstGeom prst="ellipse">
            <a:avLst/>
          </a:prstGeom>
          <a:solidFill>
            <a:srgbClr val="065A82">
              <a:alpha val="12000"/>
            </a:srgbClr>
          </a:solidFill>
          <a:ln w="12700">
            <a:solidFill>
              <a:srgbClr val="065A8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12">
            <a:extLst>
              <a:ext uri="{FF2B5EF4-FFF2-40B4-BE49-F238E27FC236}">
                <a16:creationId xmlns:a16="http://schemas.microsoft.com/office/drawing/2014/main" id="{2BEBC9BF-F2B0-C7B5-42B1-B0B1B26C6C72}"/>
              </a:ext>
            </a:extLst>
          </p:cNvPr>
          <p:cNvSpPr/>
          <p:nvPr/>
        </p:nvSpPr>
        <p:spPr>
          <a:xfrm>
            <a:off x="1289304" y="1614084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📬</a:t>
            </a:r>
            <a:endParaRPr lang="en-US" sz="3200" dirty="0"/>
          </a:p>
        </p:txBody>
      </p:sp>
      <p:sp>
        <p:nvSpPr>
          <p:cNvPr id="43" name="Shape 13">
            <a:extLst>
              <a:ext uri="{FF2B5EF4-FFF2-40B4-BE49-F238E27FC236}">
                <a16:creationId xmlns:a16="http://schemas.microsoft.com/office/drawing/2014/main" id="{E8A4FC0F-A9CA-3491-0FAF-714981EC6CD6}"/>
              </a:ext>
            </a:extLst>
          </p:cNvPr>
          <p:cNvSpPr/>
          <p:nvPr/>
        </p:nvSpPr>
        <p:spPr>
          <a:xfrm>
            <a:off x="548640" y="2720159"/>
            <a:ext cx="365760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14">
            <a:extLst>
              <a:ext uri="{FF2B5EF4-FFF2-40B4-BE49-F238E27FC236}">
                <a16:creationId xmlns:a16="http://schemas.microsoft.com/office/drawing/2014/main" id="{DF81F7A4-466B-4875-2CD2-84AD9D68919F}"/>
              </a:ext>
            </a:extLst>
          </p:cNvPr>
          <p:cNvSpPr/>
          <p:nvPr/>
        </p:nvSpPr>
        <p:spPr>
          <a:xfrm>
            <a:off x="548640" y="2487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45" name="Text 15">
            <a:extLst>
              <a:ext uri="{FF2B5EF4-FFF2-40B4-BE49-F238E27FC236}">
                <a16:creationId xmlns:a16="http://schemas.microsoft.com/office/drawing/2014/main" id="{12B7BAD4-773E-C233-BBE2-59CB132BE517}"/>
              </a:ext>
            </a:extLst>
          </p:cNvPr>
          <p:cNvSpPr/>
          <p:nvPr/>
        </p:nvSpPr>
        <p:spPr>
          <a:xfrm>
            <a:off x="1033272" y="2720159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김동환 </a:t>
            </a:r>
            <a:r>
              <a:rPr lang="en-US" altLang="ko-KR" sz="13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</a:t>
            </a:r>
            <a:r>
              <a:rPr lang="ko-KR" altLang="en-US" sz="13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팀장</a:t>
            </a:r>
            <a:r>
              <a:rPr lang="en-US" altLang="ko-KR" sz="13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]</a:t>
            </a:r>
            <a:endParaRPr lang="en-US" sz="1300" dirty="0"/>
          </a:p>
        </p:txBody>
      </p:sp>
      <p:sp>
        <p:nvSpPr>
          <p:cNvPr id="46" name="Shape 17">
            <a:extLst>
              <a:ext uri="{FF2B5EF4-FFF2-40B4-BE49-F238E27FC236}">
                <a16:creationId xmlns:a16="http://schemas.microsoft.com/office/drawing/2014/main" id="{35F9E420-A5BA-46C2-E86E-A8E0070D5EC1}"/>
              </a:ext>
            </a:extLst>
          </p:cNvPr>
          <p:cNvSpPr/>
          <p:nvPr/>
        </p:nvSpPr>
        <p:spPr>
          <a:xfrm>
            <a:off x="3319272" y="1188720"/>
            <a:ext cx="2670048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18">
            <a:extLst>
              <a:ext uri="{FF2B5EF4-FFF2-40B4-BE49-F238E27FC236}">
                <a16:creationId xmlns:a16="http://schemas.microsoft.com/office/drawing/2014/main" id="{4BF42948-E5A3-70BD-AE39-205602FC5CDA}"/>
              </a:ext>
            </a:extLst>
          </p:cNvPr>
          <p:cNvSpPr/>
          <p:nvPr/>
        </p:nvSpPr>
        <p:spPr>
          <a:xfrm>
            <a:off x="3319272" y="1188720"/>
            <a:ext cx="2670048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19">
            <a:extLst>
              <a:ext uri="{FF2B5EF4-FFF2-40B4-BE49-F238E27FC236}">
                <a16:creationId xmlns:a16="http://schemas.microsoft.com/office/drawing/2014/main" id="{68C053F5-EBA5-6A0A-A68B-8F67E8B92970}"/>
              </a:ext>
            </a:extLst>
          </p:cNvPr>
          <p:cNvSpPr/>
          <p:nvPr/>
        </p:nvSpPr>
        <p:spPr>
          <a:xfrm>
            <a:off x="4197096" y="1622879"/>
            <a:ext cx="914400" cy="9144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20">
            <a:extLst>
              <a:ext uri="{FF2B5EF4-FFF2-40B4-BE49-F238E27FC236}">
                <a16:creationId xmlns:a16="http://schemas.microsoft.com/office/drawing/2014/main" id="{D5401F61-5F22-5265-11E8-79D141CF2806}"/>
              </a:ext>
            </a:extLst>
          </p:cNvPr>
          <p:cNvSpPr/>
          <p:nvPr/>
        </p:nvSpPr>
        <p:spPr>
          <a:xfrm>
            <a:off x="4197096" y="1614084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👤</a:t>
            </a:r>
            <a:endParaRPr lang="en-US" sz="3200" dirty="0"/>
          </a:p>
        </p:txBody>
      </p:sp>
      <p:sp>
        <p:nvSpPr>
          <p:cNvPr id="50" name="Shape 21">
            <a:extLst>
              <a:ext uri="{FF2B5EF4-FFF2-40B4-BE49-F238E27FC236}">
                <a16:creationId xmlns:a16="http://schemas.microsoft.com/office/drawing/2014/main" id="{FC6F41EB-13AC-CBB9-11F9-718B0B27B06A}"/>
              </a:ext>
            </a:extLst>
          </p:cNvPr>
          <p:cNvSpPr/>
          <p:nvPr/>
        </p:nvSpPr>
        <p:spPr>
          <a:xfrm>
            <a:off x="3456432" y="2720159"/>
            <a:ext cx="36576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22">
            <a:extLst>
              <a:ext uri="{FF2B5EF4-FFF2-40B4-BE49-F238E27FC236}">
                <a16:creationId xmlns:a16="http://schemas.microsoft.com/office/drawing/2014/main" id="{9E54C359-6D18-8DD5-CC95-C2FE630B4E48}"/>
              </a:ext>
            </a:extLst>
          </p:cNvPr>
          <p:cNvSpPr/>
          <p:nvPr/>
        </p:nvSpPr>
        <p:spPr>
          <a:xfrm>
            <a:off x="3456432" y="2487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52" name="Text 23">
            <a:extLst>
              <a:ext uri="{FF2B5EF4-FFF2-40B4-BE49-F238E27FC236}">
                <a16:creationId xmlns:a16="http://schemas.microsoft.com/office/drawing/2014/main" id="{873599BA-0288-9A60-0A6B-A9EA4BFAE44E}"/>
              </a:ext>
            </a:extLst>
          </p:cNvPr>
          <p:cNvSpPr/>
          <p:nvPr/>
        </p:nvSpPr>
        <p:spPr>
          <a:xfrm>
            <a:off x="3941064" y="2720159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차규진</a:t>
            </a:r>
            <a:endParaRPr lang="en-US" sz="1300" dirty="0"/>
          </a:p>
        </p:txBody>
      </p:sp>
      <p:sp>
        <p:nvSpPr>
          <p:cNvPr id="53" name="Shape 25">
            <a:extLst>
              <a:ext uri="{FF2B5EF4-FFF2-40B4-BE49-F238E27FC236}">
                <a16:creationId xmlns:a16="http://schemas.microsoft.com/office/drawing/2014/main" id="{FC321642-BCB6-2D15-3E26-F74E773D8796}"/>
              </a:ext>
            </a:extLst>
          </p:cNvPr>
          <p:cNvSpPr/>
          <p:nvPr/>
        </p:nvSpPr>
        <p:spPr>
          <a:xfrm>
            <a:off x="6227064" y="1188720"/>
            <a:ext cx="2670048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26">
            <a:extLst>
              <a:ext uri="{FF2B5EF4-FFF2-40B4-BE49-F238E27FC236}">
                <a16:creationId xmlns:a16="http://schemas.microsoft.com/office/drawing/2014/main" id="{1967A241-FE44-5C94-61B3-36FE95649242}"/>
              </a:ext>
            </a:extLst>
          </p:cNvPr>
          <p:cNvSpPr/>
          <p:nvPr/>
        </p:nvSpPr>
        <p:spPr>
          <a:xfrm>
            <a:off x="6227064" y="1188720"/>
            <a:ext cx="2670048" cy="7315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27">
            <a:extLst>
              <a:ext uri="{FF2B5EF4-FFF2-40B4-BE49-F238E27FC236}">
                <a16:creationId xmlns:a16="http://schemas.microsoft.com/office/drawing/2014/main" id="{21BFE5C9-7815-58B7-1983-5EEC1FE59A45}"/>
              </a:ext>
            </a:extLst>
          </p:cNvPr>
          <p:cNvSpPr/>
          <p:nvPr/>
        </p:nvSpPr>
        <p:spPr>
          <a:xfrm>
            <a:off x="7104888" y="1614084"/>
            <a:ext cx="914400" cy="914400"/>
          </a:xfrm>
          <a:prstGeom prst="ellipse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rgbClr val="B4530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29">
            <a:extLst>
              <a:ext uri="{FF2B5EF4-FFF2-40B4-BE49-F238E27FC236}">
                <a16:creationId xmlns:a16="http://schemas.microsoft.com/office/drawing/2014/main" id="{1DC07A5A-2F8F-B8D4-1D04-4609CB0CAE32}"/>
              </a:ext>
            </a:extLst>
          </p:cNvPr>
          <p:cNvSpPr/>
          <p:nvPr/>
        </p:nvSpPr>
        <p:spPr>
          <a:xfrm>
            <a:off x="6364224" y="2720159"/>
            <a:ext cx="365760" cy="3657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30">
            <a:extLst>
              <a:ext uri="{FF2B5EF4-FFF2-40B4-BE49-F238E27FC236}">
                <a16:creationId xmlns:a16="http://schemas.microsoft.com/office/drawing/2014/main" id="{AA62E7D8-0BAD-568D-E1AA-38313D0268C2}"/>
              </a:ext>
            </a:extLst>
          </p:cNvPr>
          <p:cNvSpPr/>
          <p:nvPr/>
        </p:nvSpPr>
        <p:spPr>
          <a:xfrm>
            <a:off x="6364224" y="2487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59" name="Text 31">
            <a:extLst>
              <a:ext uri="{FF2B5EF4-FFF2-40B4-BE49-F238E27FC236}">
                <a16:creationId xmlns:a16="http://schemas.microsoft.com/office/drawing/2014/main" id="{BE5034E5-4448-CDF3-833D-198BD9137042}"/>
              </a:ext>
            </a:extLst>
          </p:cNvPr>
          <p:cNvSpPr/>
          <p:nvPr/>
        </p:nvSpPr>
        <p:spPr>
          <a:xfrm>
            <a:off x="6848856" y="2720159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홍승민</a:t>
            </a:r>
            <a:endParaRPr lang="en-US" sz="13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E3A41D7C-EC62-26EE-815E-E830A9780F9C}"/>
              </a:ext>
            </a:extLst>
          </p:cNvPr>
          <p:cNvSpPr/>
          <p:nvPr/>
        </p:nvSpPr>
        <p:spPr>
          <a:xfrm>
            <a:off x="563880" y="3318909"/>
            <a:ext cx="2389632" cy="11638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285750" indent="-285750">
              <a:buFontTx/>
              <a:buChar char="-"/>
            </a:pP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연관분석 구현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dirty="0"/>
              <a:t>To-Do </a:t>
            </a:r>
            <a:r>
              <a:rPr lang="ko-KR" altLang="en-US" sz="1400" dirty="0"/>
              <a:t>개발</a:t>
            </a:r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7554C123-EE66-D784-442F-380201A49E7E}"/>
              </a:ext>
            </a:extLst>
          </p:cNvPr>
          <p:cNvSpPr/>
          <p:nvPr/>
        </p:nvSpPr>
        <p:spPr>
          <a:xfrm>
            <a:off x="3456432" y="3330611"/>
            <a:ext cx="2389632" cy="11521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285750" indent="-285750">
              <a:buFontTx/>
              <a:buChar char="-"/>
            </a:pP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업무 메일 자동화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업무 분류</a:t>
            </a:r>
            <a:r>
              <a:rPr lang="en-US" altLang="ko-KR" sz="1400" dirty="0"/>
              <a:t>(</a:t>
            </a:r>
            <a:r>
              <a:rPr lang="ko-KR" altLang="en-US" sz="1400" dirty="0"/>
              <a:t>긴급도</a:t>
            </a:r>
            <a:r>
              <a:rPr lang="en-US" altLang="ko-KR" sz="1400" dirty="0"/>
              <a:t>, </a:t>
            </a:r>
            <a:r>
              <a:rPr lang="ko-KR" altLang="en-US" sz="1400" dirty="0"/>
              <a:t>중복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ACE8F813-103C-BEC6-1AF6-86C53D19B695}"/>
              </a:ext>
            </a:extLst>
          </p:cNvPr>
          <p:cNvSpPr/>
          <p:nvPr/>
        </p:nvSpPr>
        <p:spPr>
          <a:xfrm>
            <a:off x="6379464" y="3330611"/>
            <a:ext cx="2389632" cy="11521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285750" indent="-285750">
              <a:buFontTx/>
              <a:buChar char="-"/>
            </a:pP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웹 </a:t>
            </a:r>
            <a:r>
              <a:rPr lang="en-US" altLang="ko-KR" sz="1400" dirty="0"/>
              <a:t>UI / backend </a:t>
            </a:r>
            <a:r>
              <a:rPr lang="ko-KR" altLang="en-US" sz="1400" dirty="0"/>
              <a:t>개발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dirty="0"/>
              <a:t>LLM </a:t>
            </a:r>
            <a:r>
              <a:rPr lang="ko-KR" altLang="en-US" sz="1400" dirty="0"/>
              <a:t>요약 기능</a:t>
            </a:r>
          </a:p>
        </p:txBody>
      </p:sp>
    </p:spTree>
    <p:extLst>
      <p:ext uri="{BB962C8B-B14F-4D97-AF65-F5344CB8AC3E}">
        <p14:creationId xmlns:p14="http://schemas.microsoft.com/office/powerpoint/2010/main" val="22039501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907</TotalTime>
  <Words>1096</Words>
  <Application>Microsoft Office PowerPoint</Application>
  <PresentationFormat>화면 슬라이드 쇼(16:9)</PresentationFormat>
  <Paragraphs>261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맑은 고딕</vt:lpstr>
      <vt:lpstr>맑은고딕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Mail2Task</dc:title>
  <dc:subject>PptxGenJS Presentation</dc:subject>
  <dc:creator>규진</dc:creator>
  <cp:lastModifiedBy>김동환</cp:lastModifiedBy>
  <cp:revision>215</cp:revision>
  <dcterms:created xsi:type="dcterms:W3CDTF">2026-04-29T06:38:01Z</dcterms:created>
  <dcterms:modified xsi:type="dcterms:W3CDTF">2026-05-03T13:21:49Z</dcterms:modified>
</cp:coreProperties>
</file>